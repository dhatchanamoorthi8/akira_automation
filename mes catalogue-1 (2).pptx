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7" r:id="rId3"/>
    <p:sldId id="268" r:id="rId4"/>
    <p:sldId id="289" r:id="rId5"/>
    <p:sldId id="287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5" r:id="rId26"/>
    <p:sldId id="282" r:id="rId27"/>
    <p:sldId id="265" r:id="rId28"/>
  </p:sldIdLst>
  <p:sldSz cx="18288000" cy="10287000"/>
  <p:notesSz cx="6858000" cy="9144000"/>
  <p:embeddedFontLst>
    <p:embeddedFont>
      <p:font typeface="Arial Black" panose="020B0A04020102020204" pitchFamily="34" charset="0"/>
      <p:bold r:id="rId32"/>
    </p:embeddedFont>
    <p:embeddedFont>
      <p:font typeface="Noto Serif Display ExtraCondensed Light" panose="02020406080505020204"/>
      <p:regular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  <p:embeddedFont>
      <p:font typeface="Segoe UI" panose="020B0502040204020203"/>
      <p:regular r:id="rId38"/>
      <p:bold r:id="rId39"/>
      <p:italic r:id="rId40"/>
      <p:boldItalic r:id="rId41"/>
    </p:embeddedFont>
    <p:embeddedFont>
      <p:font typeface="Segoe UI" panose="020B0502040204020203" pitchFamily="18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3399"/>
    <a:srgbClr val="3366CC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-75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font" Target="fonts/font14.fntdata"/><Relationship Id="rId44" Type="http://schemas.openxmlformats.org/officeDocument/2006/relationships/font" Target="fonts/font13.fntdata"/><Relationship Id="rId43" Type="http://schemas.openxmlformats.org/officeDocument/2006/relationships/font" Target="fonts/font12.fntdata"/><Relationship Id="rId42" Type="http://schemas.openxmlformats.org/officeDocument/2006/relationships/font" Target="fonts/font11.fntdata"/><Relationship Id="rId41" Type="http://schemas.openxmlformats.org/officeDocument/2006/relationships/font" Target="fonts/font10.fntdata"/><Relationship Id="rId40" Type="http://schemas.openxmlformats.org/officeDocument/2006/relationships/font" Target="fonts/font9.fntdata"/><Relationship Id="rId4" Type="http://schemas.openxmlformats.org/officeDocument/2006/relationships/slide" Target="slides/slide2.xml"/><Relationship Id="rId39" Type="http://schemas.openxmlformats.org/officeDocument/2006/relationships/font" Target="fonts/font8.fntdata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1"/>
            <a:ext cx="7772400" cy="1362075"/>
          </a:xfrm>
        </p:spPr>
        <p:txBody>
          <a:bodyPr anchor="t"/>
          <a:lstStyle>
            <a:lvl1pPr algn="l">
              <a:defRPr sz="39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4"/>
          </a:xfrm>
        </p:spPr>
        <p:txBody>
          <a:bodyPr/>
          <a:lstStyle>
            <a:lvl1pPr>
              <a:defRPr sz="29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4"/>
          </a:xfrm>
        </p:spPr>
        <p:txBody>
          <a:bodyPr/>
          <a:lstStyle>
            <a:lvl1pPr>
              <a:defRPr sz="29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3951288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4"/>
            <a:ext cx="4041776" cy="639762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6"/>
            <a:ext cx="4041776" cy="3951288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9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900"/>
            </a:lvl2pPr>
            <a:lvl3pPr marL="914400" indent="0">
              <a:buNone/>
              <a:defRPr sz="23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39" tIns="45719" rIns="91439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 vert="horz" lIns="91439" tIns="45719" rIns="91439" bIns="4571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</p:spPr>
        <p:txBody>
          <a:bodyPr vert="horz" lIns="91439" tIns="45719" rIns="91439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6"/>
          </a:xfrm>
          <a:prstGeom prst="rect">
            <a:avLst/>
          </a:prstGeom>
        </p:spPr>
        <p:txBody>
          <a:bodyPr vert="horz" lIns="91439" tIns="45719" rIns="91439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6"/>
          </a:xfrm>
          <a:prstGeom prst="rect">
            <a:avLst/>
          </a:prstGeom>
        </p:spPr>
        <p:txBody>
          <a:bodyPr vert="horz" lIns="91439" tIns="45719" rIns="91439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29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jpeg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0.jpeg"/><Relationship Id="rId1" Type="http://schemas.openxmlformats.org/officeDocument/2006/relationships/image" Target="../media/image3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mailto:milestonegauges@gmail.com" TargetMode="External"/><Relationship Id="rId1" Type="http://schemas.openxmlformats.org/officeDocument/2006/relationships/image" Target="../media/image4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008" y="2857500"/>
            <a:ext cx="17818391" cy="419675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163284" tIns="81642" rIns="163284" bIns="81642">
            <a:spAutoFit/>
          </a:bodyPr>
          <a:lstStyle/>
          <a:p>
            <a:pPr algn="ctr"/>
            <a:endParaRPr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reflection blurRad="12700" stA="28000" endPos="45000" dist="1000" dir="5400000" sy="-100000" algn="bl" rotWithShape="0"/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sz="6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Milestone </a:t>
            </a:r>
            <a:r>
              <a:rPr lang="en-US" sz="66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Engineering Services</a:t>
            </a:r>
            <a:endParaRPr sz="66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reflection blurRad="12700" stA="28000" endPos="45000" dist="1000" dir="5400000" sy="-100000" algn="bl" rotWithShape="0"/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sz="2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Precision • Innovation • </a:t>
            </a:r>
            <a:r>
              <a:rPr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Quality</a:t>
            </a:r>
            <a:endParaRPr lang="en-US" sz="28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reflection blurRad="12700" stA="28000" endPos="45000" dist="1000" dir="5400000" sy="-100000" algn="bl" rotWithShape="0"/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endParaRPr lang="en-US" sz="28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reflection blurRad="12700" stA="28000" endPos="45000" dist="1000" dir="5400000" sy="-100000" algn="bl" rotWithShape="0"/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Sales &amp; service</a:t>
            </a:r>
            <a:endParaRPr lang="en-US" sz="28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reflection blurRad="12700" stA="28000" endPos="45000" dist="1000" dir="5400000" sy="-100000" algn="bl" rotWithShape="0"/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endParaRPr lang="en-US" sz="28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reflection blurRad="12700" stA="28000" endPos="45000" dist="1000" dir="5400000" sy="-100000" algn="bl" rotWithShape="0"/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endParaRPr lang="en-US" sz="28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reflection blurRad="12700" stA="28000" endPos="45000" dist="1000" dir="5400000" sy="-100000" algn="bl" rotWithShape="0"/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lang="en-US" sz="2800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wELCOME</a:t>
            </a:r>
            <a:endParaRPr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reflection blurRad="12700" stA="28000" endPos="45000" dist="1000" dir="5400000" sy="-100000" algn="bl" rotWithShape="0"/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048586"/>
          <p:cNvSpPr txBox="1"/>
          <p:nvPr/>
        </p:nvSpPr>
        <p:spPr>
          <a:xfrm>
            <a:off x="152400" y="2556890"/>
            <a:ext cx="17983200" cy="7089851"/>
          </a:xfrm>
          <a:prstGeom prst="rect">
            <a:avLst/>
          </a:prstGeom>
          <a:noFill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163284" tIns="81642" rIns="163284" bIns="81642">
            <a:spAutoFit/>
          </a:bodyPr>
          <a:lstStyle>
            <a:defPPr>
              <a:defRPr lang="en-US"/>
            </a:defPPr>
            <a:lvl1pPr>
              <a:buFont typeface="Wingdings" panose="05000000000000000000" pitchFamily="2" charset="2"/>
              <a:buChar char="Ø"/>
              <a:defRPr b="1" i="1">
                <a:solidFill>
                  <a:srgbClr val="C00000"/>
                </a:solidFill>
              </a:defRPr>
            </a:lvl1pPr>
          </a:lstStyle>
          <a:p>
            <a:r>
              <a:rPr lang="en-US" sz="3600" b="0" dirty="0" smtClean="0">
                <a:solidFill>
                  <a:schemeClr val="bg1"/>
                </a:solidFill>
                <a:latin typeface="HK Grotesk" charset="0"/>
              </a:rPr>
              <a:t>Milestone Engineering Services since 2021</a:t>
            </a:r>
            <a:r>
              <a:rPr sz="3600" b="0" dirty="0" smtClean="0">
                <a:solidFill>
                  <a:schemeClr val="bg1"/>
                </a:solidFill>
                <a:latin typeface="HK Grotesk" charset="0"/>
              </a:rPr>
              <a:t> </a:t>
            </a:r>
            <a:r>
              <a:rPr sz="3600" dirty="0" smtClean="0">
                <a:solidFill>
                  <a:schemeClr val="bg1"/>
                </a:solidFill>
                <a:latin typeface="HK Grotesk" charset="0"/>
              </a:rPr>
              <a:t>High Quality Products </a:t>
            </a:r>
            <a:r>
              <a:rPr sz="3600" b="0" dirty="0" smtClean="0">
                <a:solidFill>
                  <a:schemeClr val="bg1"/>
                </a:solidFill>
                <a:latin typeface="HK Grotesk" charset="0"/>
              </a:rPr>
              <a:t>which contribute in</a:t>
            </a:r>
            <a:r>
              <a:rPr lang="en-US" sz="3600" b="0" dirty="0" smtClean="0">
                <a:solidFill>
                  <a:schemeClr val="bg1"/>
                </a:solidFill>
                <a:latin typeface="HK Grotesk" charset="0"/>
              </a:rPr>
              <a:t> </a:t>
            </a:r>
            <a:r>
              <a:rPr sz="3600" b="0" dirty="0" smtClean="0">
                <a:solidFill>
                  <a:schemeClr val="bg1"/>
                </a:solidFill>
                <a:latin typeface="HK Grotesk" charset="0"/>
              </a:rPr>
              <a:t>giving</a:t>
            </a:r>
            <a:r>
              <a:rPr lang="en-US" sz="3600" b="0" dirty="0" smtClean="0">
                <a:solidFill>
                  <a:schemeClr val="bg1"/>
                </a:solidFill>
                <a:latin typeface="HK Grotesk" charset="0"/>
              </a:rPr>
              <a:t> </a:t>
            </a:r>
            <a:r>
              <a:rPr sz="3600" b="0" dirty="0" smtClean="0">
                <a:solidFill>
                  <a:schemeClr val="bg1"/>
                </a:solidFill>
                <a:latin typeface="HK Grotesk" charset="0"/>
              </a:rPr>
              <a:t>Innovative solutions to our clients and </a:t>
            </a:r>
            <a:r>
              <a:rPr lang="en-US" sz="3600" b="0" dirty="0" smtClean="0">
                <a:solidFill>
                  <a:schemeClr val="bg1"/>
                </a:solidFill>
                <a:latin typeface="HK Grotesk" charset="0"/>
              </a:rPr>
              <a:t>there by</a:t>
            </a:r>
            <a:r>
              <a:rPr sz="3600" b="0" dirty="0" smtClean="0">
                <a:solidFill>
                  <a:schemeClr val="bg1"/>
                </a:solidFill>
                <a:latin typeface="HK Grotesk" charset="0"/>
              </a:rPr>
              <a:t> increasing their productivity</a:t>
            </a:r>
            <a:r>
              <a:rPr lang="en-US" sz="3600" b="0" dirty="0" smtClean="0">
                <a:solidFill>
                  <a:schemeClr val="bg1"/>
                </a:solidFill>
                <a:latin typeface="HK Grotesk" charset="0"/>
              </a:rPr>
              <a:t> </a:t>
            </a:r>
            <a:r>
              <a:rPr sz="3600" b="0" dirty="0" smtClean="0">
                <a:solidFill>
                  <a:schemeClr val="bg1"/>
                </a:solidFill>
                <a:latin typeface="HK Grotesk" charset="0"/>
              </a:rPr>
              <a:t>and profits. The </a:t>
            </a:r>
            <a:r>
              <a:rPr lang="en-US" sz="3600" b="0" dirty="0" smtClean="0">
                <a:solidFill>
                  <a:schemeClr val="bg1"/>
                </a:solidFill>
                <a:latin typeface="HK Grotesk" charset="0"/>
              </a:rPr>
              <a:t>MIG working</a:t>
            </a:r>
            <a:r>
              <a:rPr sz="3600" b="0" dirty="0" smtClean="0">
                <a:solidFill>
                  <a:schemeClr val="bg1"/>
                </a:solidFill>
                <a:latin typeface="HK Grotesk" charset="0"/>
              </a:rPr>
              <a:t> towards the core values:</a:t>
            </a:r>
            <a:r>
              <a:rPr sz="3600" dirty="0" smtClean="0">
                <a:solidFill>
                  <a:schemeClr val="bg1"/>
                </a:solidFill>
                <a:latin typeface="HK Grotesk" charset="0"/>
              </a:rPr>
              <a:t> Technical Support, Quality Service, </a:t>
            </a:r>
            <a:r>
              <a:rPr lang="en-US" sz="3600" dirty="0" smtClean="0">
                <a:solidFill>
                  <a:schemeClr val="bg1"/>
                </a:solidFill>
                <a:latin typeface="HK Grotesk" charset="0"/>
              </a:rPr>
              <a:t> </a:t>
            </a:r>
            <a:r>
              <a:rPr sz="3600" dirty="0" smtClean="0">
                <a:solidFill>
                  <a:schemeClr val="bg1"/>
                </a:solidFill>
                <a:latin typeface="HK Grotesk" charset="0"/>
              </a:rPr>
              <a:t>Team spirit.</a:t>
            </a:r>
            <a:r>
              <a:rPr sz="3600" b="0" dirty="0" smtClean="0">
                <a:solidFill>
                  <a:schemeClr val="bg1"/>
                </a:solidFill>
                <a:latin typeface="HK Grotesk" charset="0"/>
              </a:rPr>
              <a:t> </a:t>
            </a:r>
            <a:endParaRPr lang="zh-CN" altLang="en-US" b="0" dirty="0" smtClean="0">
              <a:solidFill>
                <a:schemeClr val="bg1"/>
              </a:solidFill>
              <a:latin typeface="HK Grotesk" charset="0"/>
            </a:endParaRPr>
          </a:p>
          <a:p>
            <a:endParaRPr b="0" dirty="0" smtClean="0">
              <a:solidFill>
                <a:schemeClr val="bg1"/>
              </a:solidFill>
              <a:latin typeface="HK Grotesk" charset="0"/>
            </a:endParaRPr>
          </a:p>
          <a:p>
            <a:r>
              <a:rPr lang="en-US" sz="3600" b="0" dirty="0" smtClean="0">
                <a:solidFill>
                  <a:schemeClr val="bg1"/>
                </a:solidFill>
                <a:latin typeface="HK Grotesk" charset="0"/>
              </a:rPr>
              <a:t>Milestone Engineering Services </a:t>
            </a:r>
            <a:r>
              <a:rPr sz="3600" b="0" dirty="0" smtClean="0">
                <a:solidFill>
                  <a:schemeClr val="bg1"/>
                </a:solidFill>
                <a:latin typeface="HK Grotesk" charset="0"/>
              </a:rPr>
              <a:t>has abided by having a Motto </a:t>
            </a:r>
            <a:r>
              <a:rPr sz="3600" dirty="0" smtClean="0">
                <a:solidFill>
                  <a:schemeClr val="bg1"/>
                </a:solidFill>
                <a:latin typeface="HK Grotesk" charset="0"/>
              </a:rPr>
              <a:t>"Keeping</a:t>
            </a:r>
            <a:r>
              <a:rPr lang="en-US" sz="3600" dirty="0" smtClean="0">
                <a:solidFill>
                  <a:schemeClr val="bg1"/>
                </a:solidFill>
                <a:latin typeface="HK Grotesk" charset="0"/>
              </a:rPr>
              <a:t> </a:t>
            </a:r>
            <a:r>
              <a:rPr sz="3600" dirty="0" smtClean="0">
                <a:solidFill>
                  <a:schemeClr val="bg1"/>
                </a:solidFill>
                <a:latin typeface="HK Grotesk" charset="0"/>
              </a:rPr>
              <a:t>Customers First”,</a:t>
            </a:r>
            <a:r>
              <a:rPr sz="3600" b="0" dirty="0" smtClean="0">
                <a:solidFill>
                  <a:schemeClr val="bg1"/>
                </a:solidFill>
                <a:latin typeface="HK Grotesk" charset="0"/>
              </a:rPr>
              <a:t> </a:t>
            </a:r>
            <a:r>
              <a:rPr lang="en-US" sz="3600" b="0" dirty="0" smtClean="0">
                <a:solidFill>
                  <a:schemeClr val="bg1"/>
                </a:solidFill>
                <a:latin typeface="HK Grotesk" charset="0"/>
              </a:rPr>
              <a:t> </a:t>
            </a:r>
            <a:r>
              <a:rPr sz="3600" b="0" dirty="0" smtClean="0">
                <a:solidFill>
                  <a:schemeClr val="bg1"/>
                </a:solidFill>
                <a:latin typeface="HK Grotesk" charset="0"/>
              </a:rPr>
              <a:t>We strive to give Quality Solutions and Quality Service to</a:t>
            </a:r>
            <a:r>
              <a:rPr lang="en-US" sz="3600" b="0" dirty="0" smtClean="0">
                <a:solidFill>
                  <a:schemeClr val="bg1"/>
                </a:solidFill>
                <a:latin typeface="HK Grotesk" charset="0"/>
              </a:rPr>
              <a:t> </a:t>
            </a:r>
            <a:r>
              <a:rPr sz="3600" b="0" dirty="0" smtClean="0">
                <a:solidFill>
                  <a:schemeClr val="bg1"/>
                </a:solidFill>
                <a:latin typeface="HK Grotesk" charset="0"/>
              </a:rPr>
              <a:t>customers.</a:t>
            </a:r>
            <a:endParaRPr lang="en-US" b="0" dirty="0" smtClean="0">
              <a:solidFill>
                <a:schemeClr val="bg1"/>
              </a:solidFill>
              <a:latin typeface="HK Grotesk" charset="0"/>
            </a:endParaRPr>
          </a:p>
          <a:p>
            <a:endParaRPr lang="en-US" b="0" dirty="0" smtClean="0">
              <a:solidFill>
                <a:schemeClr val="bg1"/>
              </a:solidFill>
              <a:latin typeface="HK Grotesk" charset="0"/>
            </a:endParaRPr>
          </a:p>
          <a:p>
            <a:r>
              <a:rPr lang="en-US" sz="3600" b="0" dirty="0" smtClean="0">
                <a:solidFill>
                  <a:schemeClr val="bg1"/>
                </a:solidFill>
                <a:latin typeface="HK Grotesk" charset="0"/>
              </a:rPr>
              <a:t>Milestone Engineering Services </a:t>
            </a:r>
            <a:r>
              <a:rPr lang="en-US" altLang="en-US" sz="3600" b="0" dirty="0" smtClean="0">
                <a:solidFill>
                  <a:schemeClr val="bg1"/>
                </a:solidFill>
                <a:latin typeface="HK Grotesk" charset="0"/>
              </a:rPr>
              <a:t>provides Solution in</a:t>
            </a:r>
            <a:r>
              <a:rPr lang="en-US" altLang="en-IN" sz="3600" b="0" dirty="0" smtClean="0">
                <a:solidFill>
                  <a:schemeClr val="bg1"/>
                </a:solidFill>
                <a:latin typeface="HK Grotesk" charset="0"/>
              </a:rPr>
              <a:t> </a:t>
            </a:r>
            <a:r>
              <a:rPr lang="en-US" altLang="en-IN" sz="3600" dirty="0" smtClean="0">
                <a:solidFill>
                  <a:schemeClr val="bg1"/>
                </a:solidFill>
                <a:latin typeface="HK Grotesk" charset="0"/>
              </a:rPr>
              <a:t>Multi gauging</a:t>
            </a:r>
            <a:r>
              <a:rPr lang="en-US" altLang="en-IN" sz="3600" b="0" dirty="0" smtClean="0">
                <a:solidFill>
                  <a:schemeClr val="bg1"/>
                </a:solidFill>
                <a:latin typeface="HK Grotesk" charset="0"/>
              </a:rPr>
              <a:t>, Fixture, Air gauges,        Electronic Gauge, Air plug &amp; Air Ring Gauges, Attribute Gauges, Plug gauge, Snap gauge, Ring gauge, Special Gauges, Assembly</a:t>
            </a:r>
            <a:r>
              <a:rPr lang="en-US" altLang="en-US" sz="3600" b="0" dirty="0" smtClean="0">
                <a:solidFill>
                  <a:schemeClr val="bg1"/>
                </a:solidFill>
                <a:latin typeface="HK Grotesk" charset="0"/>
              </a:rPr>
              <a:t> , Work holding which is our major strength compared to any supplier.</a:t>
            </a:r>
            <a:endParaRPr lang="zh-CN" altLang="en-US" b="0" dirty="0" smtClean="0">
              <a:solidFill>
                <a:schemeClr val="bg1"/>
              </a:solidFill>
              <a:latin typeface="HK Grotesk" charset="0"/>
            </a:endParaRPr>
          </a:p>
          <a:p>
            <a:endParaRPr lang="zh-CN" altLang="en-US" b="0" dirty="0" smtClean="0">
              <a:solidFill>
                <a:schemeClr val="bg1"/>
              </a:solidFill>
              <a:latin typeface="HK Grotesk" charset="0"/>
            </a:endParaRPr>
          </a:p>
          <a:p>
            <a:endParaRPr lang="zh-CN" altLang="en-US" b="0" dirty="0" smtClean="0">
              <a:solidFill>
                <a:schemeClr val="bg1"/>
              </a:solidFill>
              <a:latin typeface="HK Grotesk" charset="0"/>
            </a:endParaRPr>
          </a:p>
          <a:p>
            <a:endParaRPr b="0" dirty="0">
              <a:solidFill>
                <a:schemeClr val="bg1"/>
              </a:solidFill>
              <a:latin typeface="HK Grotesk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00" cy="2103871"/>
          </a:xfrm>
          <a:prstGeom prst="rect">
            <a:avLst/>
          </a:prstGeom>
          <a:noFill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endParaRPr lang="en-US" sz="2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en-US" sz="50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Milestone Engineering Services</a:t>
            </a:r>
            <a:endParaRPr lang="en-US" sz="5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lang="en-US" sz="36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Precision • Innovation • Quality</a:t>
            </a:r>
            <a:endParaRPr lang="en-US" sz="3600" b="1" dirty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5"/>
          <p:cNvSpPr/>
          <p:nvPr/>
        </p:nvSpPr>
        <p:spPr>
          <a:xfrm>
            <a:off x="0" y="695325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39300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0" y="5143500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Customer Benefits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15600" y="6438900"/>
            <a:ext cx="8229600" cy="4525964"/>
          </a:xfrm>
        </p:spPr>
        <p:txBody>
          <a:bodyPr/>
          <a:lstStyle/>
          <a:p>
            <a:pPr>
              <a:buNone/>
            </a:pPr>
            <a:r>
              <a:rPr dirty="0">
                <a:solidFill>
                  <a:schemeClr val="bg1"/>
                </a:solidFill>
              </a:rPr>
              <a:t>• Reduced inspection time</a:t>
            </a:r>
            <a:endParaRPr dirty="0">
              <a:solidFill>
                <a:schemeClr val="bg1"/>
              </a:solidFill>
            </a:endParaRPr>
          </a:p>
          <a:p>
            <a:pPr>
              <a:buNone/>
            </a:pPr>
            <a:r>
              <a:rPr dirty="0">
                <a:solidFill>
                  <a:schemeClr val="bg1"/>
                </a:solidFill>
              </a:rPr>
              <a:t>• Higher productivity</a:t>
            </a:r>
            <a:endParaRPr dirty="0">
              <a:solidFill>
                <a:schemeClr val="bg1"/>
              </a:solidFill>
            </a:endParaRPr>
          </a:p>
          <a:p>
            <a:pPr>
              <a:buNone/>
            </a:pPr>
            <a:r>
              <a:rPr dirty="0">
                <a:solidFill>
                  <a:schemeClr val="bg1"/>
                </a:solidFill>
              </a:rPr>
              <a:t>• Consistent quality</a:t>
            </a:r>
            <a:endParaRPr dirty="0">
              <a:solidFill>
                <a:schemeClr val="bg1"/>
              </a:solidFill>
            </a:endParaRPr>
          </a:p>
          <a:p>
            <a:pPr>
              <a:buNone/>
            </a:pPr>
            <a:r>
              <a:rPr dirty="0">
                <a:solidFill>
                  <a:schemeClr val="bg1"/>
                </a:solidFill>
              </a:rPr>
              <a:t>• Automation-ready inspection</a:t>
            </a:r>
            <a:endParaRPr dirty="0">
              <a:solidFill>
                <a:schemeClr val="bg1"/>
              </a:solidFill>
            </a:endParaRPr>
          </a:p>
          <a:p>
            <a:pPr>
              <a:buNone/>
            </a:pPr>
            <a:r>
              <a:rPr dirty="0">
                <a:solidFill>
                  <a:schemeClr val="bg1"/>
                </a:solidFill>
              </a:rPr>
              <a:t>• Strong return on investment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76200" y="5159375"/>
            <a:ext cx="8229600" cy="1143000"/>
          </a:xfrm>
          <a:prstGeom prst="rect">
            <a:avLst/>
          </a:prstGeom>
        </p:spPr>
        <p:txBody>
          <a:bodyPr vert="horz" lIns="91439" tIns="45719" rIns="91439" bIns="45719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Service &amp; Support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457200" y="6484937"/>
            <a:ext cx="8229600" cy="4525963"/>
          </a:xfrm>
          <a:prstGeom prst="rect">
            <a:avLst/>
          </a:prstGeom>
        </p:spPr>
        <p:txBody>
          <a:bodyPr vert="horz" lIns="91439" tIns="45719" rIns="91439" bIns="45719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Installation &amp; commissioning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Operator training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Calibration &amp; technical support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Fast service response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support beyond sales.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228600" y="876300"/>
            <a:ext cx="8229600" cy="1143000"/>
          </a:xfrm>
          <a:prstGeom prst="rect">
            <a:avLst/>
          </a:prstGeom>
        </p:spPr>
        <p:txBody>
          <a:bodyPr vert="horz" lIns="91439" tIns="45719" rIns="91439" bIns="45719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5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Industries We Serve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2"/>
          <p:cNvSpPr txBox="1"/>
          <p:nvPr/>
        </p:nvSpPr>
        <p:spPr>
          <a:xfrm>
            <a:off x="609600" y="2247900"/>
            <a:ext cx="8229600" cy="4525963"/>
          </a:xfrm>
          <a:prstGeom prst="rect">
            <a:avLst/>
          </a:prstGeom>
        </p:spPr>
        <p:txBody>
          <a:bodyPr vert="horz" lIns="91439" tIns="45719" rIns="91439" bIns="45719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Automotive OEMs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Tier-1 &amp; Tier-2 suppliers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Automation machine builders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General &amp; precision engineering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0210800" y="739775"/>
            <a:ext cx="8229600" cy="1143000"/>
          </a:xfrm>
          <a:prstGeom prst="rect">
            <a:avLst/>
          </a:prstGeom>
        </p:spPr>
        <p:txBody>
          <a:bodyPr vert="horz" lIns="91439" tIns="45719" rIns="91439" bIns="45719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5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Our Core Strength</a:t>
            </a:r>
            <a:endParaRPr kumimoji="0" lang="en-US" sz="45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10210800" y="2065337"/>
            <a:ext cx="8229600" cy="4525963"/>
          </a:xfrm>
          <a:prstGeom prst="rect">
            <a:avLst/>
          </a:prstGeom>
        </p:spPr>
        <p:txBody>
          <a:bodyPr vert="horz" lIns="91439" tIns="45719" rIns="91439" bIns="45719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Automated multi gauging expertise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OEM &amp; automation-ready solutions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Custom-built systems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Strong service &amp; technical support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• Competitive and value-driven pricing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AutoShape 5"/>
          <p:cNvSpPr/>
          <p:nvPr/>
        </p:nvSpPr>
        <p:spPr>
          <a:xfrm>
            <a:off x="0" y="647700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6"/>
          <p:cNvSpPr/>
          <p:nvPr/>
        </p:nvSpPr>
        <p:spPr>
          <a:xfrm>
            <a:off x="0" y="9591675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381000" y="1409700"/>
            <a:ext cx="8229600" cy="1143000"/>
          </a:xfrm>
          <a:prstGeom prst="rect">
            <a:avLst/>
          </a:prstGeom>
        </p:spPr>
        <p:txBody>
          <a:bodyPr vert="horz" lIns="91439" tIns="45719" rIns="91439" bIns="45719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About Us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381000" y="2735262"/>
            <a:ext cx="8229600" cy="4525963"/>
          </a:xfrm>
          <a:prstGeom prst="rect">
            <a:avLst/>
          </a:prstGeom>
        </p:spPr>
        <p:txBody>
          <a:bodyPr vert="horz" lIns="91439" tIns="45719" rIns="91439" bIns="45719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Milestone Engineering Services is a growing solution provider in precision instruments and automated multi gauging systems.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Founded in 2021, we support OEMs, automation integrators, and engineering industries with customized gauging solutions focused on accuracy, productivity, and reliability.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9525000" y="1349373"/>
            <a:ext cx="8229600" cy="1143000"/>
          </a:xfrm>
          <a:prstGeom prst="rect">
            <a:avLst/>
          </a:prstGeom>
        </p:spPr>
        <p:txBody>
          <a:bodyPr vert="horz" lIns="91439" tIns="45719" rIns="91439" bIns="45719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Vision &amp; Strengths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2"/>
          <p:cNvSpPr txBox="1"/>
          <p:nvPr/>
        </p:nvSpPr>
        <p:spPr>
          <a:xfrm>
            <a:off x="9525000" y="2674936"/>
            <a:ext cx="8229600" cy="4525964"/>
          </a:xfrm>
          <a:prstGeom prst="rect">
            <a:avLst/>
          </a:prstGeom>
        </p:spPr>
        <p:txBody>
          <a:bodyPr vert="horz" lIns="91439" tIns="45719" rIns="91439" bIns="45719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Provide leading-edge gauging and automation solutions</a:t>
            </a: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Customized solutions to improve productivity &amp; profitability</a:t>
            </a: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Traceable measurements to international standards</a:t>
            </a: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Strong technical support and after-sales service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10287000"/>
            <a:chOff x="0" y="0"/>
            <a:chExt cx="1393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1" cstate="print"/>
              <a:stretch>
                <a:fillRect t="-378" b="-37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66750" y="1638301"/>
            <a:ext cx="6886576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00"/>
              </a:lnSpc>
            </a:pPr>
            <a:r>
              <a:rPr lang="en-US" sz="3900" b="1" dirty="0">
                <a:solidFill>
                  <a:srgbClr val="F7F7F7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Precision</a:t>
            </a:r>
            <a:endParaRPr lang="en-US" sz="3900" b="1" dirty="0">
              <a:solidFill>
                <a:srgbClr val="F7F7F7"/>
              </a:solidFill>
              <a:latin typeface="HK Grotesk Semi-Bold"/>
              <a:ea typeface="HK Grotesk Semi-Bold"/>
              <a:cs typeface="HK Grotesk Semi-Bold"/>
              <a:sym typeface="HK Grotesk Semi-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666750" y="4250055"/>
            <a:ext cx="6886576" cy="5349381"/>
            <a:chOff x="0" y="266700"/>
            <a:chExt cx="9182100" cy="7132507"/>
          </a:xfrm>
        </p:grpSpPr>
        <p:sp>
          <p:nvSpPr>
            <p:cNvPr id="6" name="TextBox 6"/>
            <p:cNvSpPr txBox="1"/>
            <p:nvPr/>
          </p:nvSpPr>
          <p:spPr>
            <a:xfrm>
              <a:off x="0" y="6233160"/>
              <a:ext cx="9182100" cy="11660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  <a:spcBef>
                  <a:spcPct val="0"/>
                </a:spcBef>
              </a:pPr>
              <a:r>
                <a:rPr lang="en-US" sz="29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Expert Solutions for OEM and Automotive Industries</a:t>
              </a:r>
              <a:endParaRPr lang="en-US" sz="2900" dirty="0">
                <a:solidFill>
                  <a:srgbClr val="F7F7F7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66700"/>
              <a:ext cx="9182100" cy="4947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400"/>
                </a:lnSpc>
              </a:pPr>
              <a:r>
                <a:rPr lang="en-US" sz="14500" spc="-287" dirty="0">
                  <a:solidFill>
                    <a:srgbClr val="F7F7F7"/>
                  </a:solidFill>
                  <a:latin typeface="Noto Serif Display ExtraCondensed Light" panose="02020406080505020204"/>
                  <a:ea typeface="Noto Serif Display ExtraCondensed Light" panose="02020406080505020204"/>
                  <a:cs typeface="Noto Serif Display ExtraCondensed Light" panose="02020406080505020204"/>
                  <a:sym typeface="Noto Serif Display ExtraCondensed Light" panose="02020406080505020204"/>
                </a:rPr>
                <a:t>Gauging Solutions</a:t>
              </a:r>
              <a:endParaRPr lang="en-US" sz="14500" spc="-287" dirty="0">
                <a:solidFill>
                  <a:srgbClr val="F7F7F7"/>
                </a:solidFill>
                <a:latin typeface="Noto Serif Display ExtraCondensed Light" panose="02020406080505020204"/>
                <a:ea typeface="Noto Serif Display ExtraCondensed Light" panose="02020406080505020204"/>
                <a:cs typeface="Noto Serif Display ExtraCondensed Light" panose="02020406080505020204"/>
                <a:sym typeface="Noto Serif Display ExtraCondensed Light" panose="02020406080505020204"/>
              </a:endParaRPr>
            </a:p>
          </p:txBody>
        </p:sp>
      </p:grpSp>
      <p:sp>
        <p:nvSpPr>
          <p:cNvPr id="8" name="AutoShape 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174332"/>
            <a:ext cx="12639676" cy="2093486"/>
            <a:chOff x="0" y="180976"/>
            <a:chExt cx="16852900" cy="2791315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6"/>
              <a:ext cx="16852900" cy="1653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9600" spc="-193" dirty="0">
                  <a:solidFill>
                    <a:srgbClr val="F7F7F7"/>
                  </a:solidFill>
                  <a:latin typeface="Noto Serif Display ExtraCondensed Light" panose="02020406080505020204"/>
                  <a:ea typeface="Noto Serif Display ExtraCondensed Light" panose="02020406080505020204"/>
                  <a:cs typeface="Noto Serif Display ExtraCondensed Light" panose="02020406080505020204"/>
                  <a:sym typeface="Noto Serif Display ExtraCondensed Light" panose="02020406080505020204"/>
                </a:rPr>
                <a:t>Commitment to Excellence</a:t>
              </a:r>
              <a:endParaRPr lang="en-US" sz="9600" spc="-193" dirty="0">
                <a:solidFill>
                  <a:srgbClr val="F7F7F7"/>
                </a:solidFill>
                <a:latin typeface="Noto Serif Display ExtraCondensed Light" panose="02020406080505020204"/>
                <a:ea typeface="Noto Serif Display ExtraCondensed Light" panose="02020406080505020204"/>
                <a:cs typeface="Noto Serif Display ExtraCondensed Light" panose="02020406080505020204"/>
                <a:sym typeface="Noto Serif Display ExtraCondensed Light" panose="02020406080505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387600"/>
              <a:ext cx="16852900" cy="58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Precision and Reliability in Every Solution</a:t>
              </a:r>
              <a:endParaRPr lang="en-US" sz="2900" b="1" dirty="0">
                <a:solidFill>
                  <a:srgbClr val="F7F7F7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038850"/>
            <a:ext cx="6886576" cy="2378385"/>
            <a:chOff x="0" y="0"/>
            <a:chExt cx="9182100" cy="3171179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9182100" cy="58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Precision Focus</a:t>
              </a:r>
              <a:endParaRPr lang="en-US" sz="2900" b="1" dirty="0">
                <a:solidFill>
                  <a:srgbClr val="F7F7F7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93800"/>
              <a:ext cx="9182100" cy="1977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0"/>
                </a:lnSpc>
              </a:pP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Our dedication to </a:t>
              </a:r>
              <a:r>
                <a:rPr lang="en-US" sz="2300" b="1" dirty="0">
                  <a:solidFill>
                    <a:srgbClr val="F7F7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precision</a:t>
              </a: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ensures that all products meet rigorous standards, thus fostering reliability and trust among our clients in the OEM and automotive manufacturing sectors.</a:t>
              </a:r>
              <a:endParaRPr lang="en-US" sz="2300" dirty="0">
                <a:solidFill>
                  <a:srgbClr val="F7F7F7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038850"/>
            <a:ext cx="6886576" cy="2378385"/>
            <a:chOff x="0" y="0"/>
            <a:chExt cx="9182100" cy="3171179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9182100" cy="58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Customer Commitment</a:t>
              </a:r>
              <a:endParaRPr lang="en-US" sz="2900" b="1" dirty="0">
                <a:solidFill>
                  <a:srgbClr val="F7F7F7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93800"/>
              <a:ext cx="9182100" cy="1977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0"/>
                </a:lnSpc>
              </a:pP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prioritize a </a:t>
              </a:r>
              <a:r>
                <a:rPr lang="en-US" sz="2300" b="1" dirty="0">
                  <a:solidFill>
                    <a:srgbClr val="F7F7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customer-first</a:t>
              </a: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approach, tailoring our solutions to meet specific needs, and ensuring client satisfaction through continuous support and innovation in our offerings.</a:t>
              </a:r>
              <a:endParaRPr lang="en-US" sz="2300" dirty="0">
                <a:solidFill>
                  <a:srgbClr val="F7F7F7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1697832"/>
            <a:ext cx="16954500" cy="2093486"/>
            <a:chOff x="0" y="180976"/>
            <a:chExt cx="22606000" cy="2791315"/>
          </a:xfrm>
        </p:grpSpPr>
        <p:sp>
          <p:nvSpPr>
            <p:cNvPr id="9" name="TextBox 9"/>
            <p:cNvSpPr txBox="1"/>
            <p:nvPr/>
          </p:nvSpPr>
          <p:spPr>
            <a:xfrm>
              <a:off x="0" y="180976"/>
              <a:ext cx="22606000" cy="1653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9600" spc="-193" dirty="0">
                  <a:solidFill>
                    <a:srgbClr val="F7F7F7"/>
                  </a:solidFill>
                  <a:latin typeface="Noto Serif Display ExtraCondensed Light" panose="02020406080505020204"/>
                  <a:ea typeface="Noto Serif Display ExtraCondensed Light" panose="02020406080505020204"/>
                  <a:cs typeface="Noto Serif Display ExtraCondensed Light" panose="02020406080505020204"/>
                  <a:sym typeface="Noto Serif Display ExtraCondensed Light" panose="02020406080505020204"/>
                </a:rPr>
                <a:t>Quality Assurance</a:t>
              </a:r>
              <a:endParaRPr lang="en-US" sz="9600" spc="-193" dirty="0">
                <a:solidFill>
                  <a:srgbClr val="F7F7F7"/>
                </a:solidFill>
                <a:latin typeface="Noto Serif Display ExtraCondensed Light" panose="02020406080505020204"/>
                <a:ea typeface="Noto Serif Display ExtraCondensed Light" panose="02020406080505020204"/>
                <a:cs typeface="Noto Serif Display ExtraCondensed Light" panose="02020406080505020204"/>
                <a:sym typeface="Noto Serif Display ExtraCondensed Light" panose="02020406080505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387600"/>
              <a:ext cx="22606000" cy="58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Uncompromising Standards and Solutions</a:t>
              </a:r>
              <a:endParaRPr lang="en-US" sz="2900" b="1" dirty="0">
                <a:solidFill>
                  <a:srgbClr val="F7F7F7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4429125"/>
            <a:ext cx="12639676" cy="124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9600" spc="-193" dirty="0">
                <a:solidFill>
                  <a:srgbClr val="F7F7F7"/>
                </a:solidFill>
                <a:latin typeface="Noto Serif Display ExtraCondensed Light" panose="02020406080505020204"/>
                <a:ea typeface="Noto Serif Display ExtraCondensed Light" panose="02020406080505020204"/>
                <a:cs typeface="Noto Serif Display ExtraCondensed Light" panose="02020406080505020204"/>
                <a:sym typeface="Noto Serif Display ExtraCondensed Light" panose="02020406080505020204"/>
              </a:rPr>
              <a:t>Expertise in Gauging</a:t>
            </a:r>
            <a:endParaRPr lang="en-US" sz="9600" spc="-193" dirty="0">
              <a:solidFill>
                <a:srgbClr val="F7F7F7"/>
              </a:solidFill>
              <a:latin typeface="Noto Serif Display ExtraCondensed Light" panose="02020406080505020204"/>
              <a:ea typeface="Noto Serif Display ExtraCondensed Light" panose="02020406080505020204"/>
              <a:cs typeface="Noto Serif Display ExtraCondensed Light" panose="02020406080505020204"/>
              <a:sym typeface="Noto Serif Display ExtraCondensed Light" panose="02020406080505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921"/>
            <a:ext cx="5448300" cy="2394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300"/>
              </a:lnSpc>
            </a:pPr>
            <a:r>
              <a:rPr lang="en-US" sz="9300" spc="-186" dirty="0" err="1">
                <a:solidFill>
                  <a:srgbClr val="F7F7F7"/>
                </a:solidFill>
                <a:latin typeface="Noto Serif Display ExtraCondensed Light" panose="02020406080505020204"/>
                <a:ea typeface="Noto Serif Display ExtraCondensed Light" panose="02020406080505020204"/>
                <a:cs typeface="Noto Serif Display ExtraCondensed Light" panose="02020406080505020204"/>
                <a:sym typeface="Noto Serif Display ExtraCondensed Light" panose="02020406080505020204"/>
              </a:rPr>
              <a:t>Multigauging</a:t>
            </a:r>
            <a:r>
              <a:rPr lang="en-US" sz="9300" spc="-186" dirty="0">
                <a:solidFill>
                  <a:srgbClr val="F7F7F7"/>
                </a:solidFill>
                <a:latin typeface="Noto Serif Display ExtraCondensed Light" panose="02020406080505020204"/>
                <a:ea typeface="Noto Serif Display ExtraCondensed Light" panose="02020406080505020204"/>
                <a:cs typeface="Noto Serif Display ExtraCondensed Light" panose="02020406080505020204"/>
                <a:sym typeface="Noto Serif Display ExtraCondensed Light" panose="02020406080505020204"/>
              </a:rPr>
              <a:t> Solutions</a:t>
            </a:r>
            <a:endParaRPr lang="en-US" sz="9300" spc="-186" dirty="0">
              <a:solidFill>
                <a:srgbClr val="F7F7F7"/>
              </a:solidFill>
              <a:latin typeface="Noto Serif Display ExtraCondensed Light" panose="02020406080505020204"/>
              <a:ea typeface="Noto Serif Display ExtraCondensed Light" panose="02020406080505020204"/>
              <a:cs typeface="Noto Serif Display ExtraCondensed Light" panose="02020406080505020204"/>
              <a:sym typeface="Noto Serif Display ExtraCondensed Light" panose="02020406080505020204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66750" y="6210300"/>
            <a:ext cx="5448300" cy="2559781"/>
            <a:chOff x="0" y="0"/>
            <a:chExt cx="7264400" cy="3413041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7264400" cy="58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Advanced Precision</a:t>
              </a:r>
              <a:endParaRPr lang="en-US" sz="2900" b="1" dirty="0">
                <a:solidFill>
                  <a:srgbClr val="F7F7F7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39800"/>
              <a:ext cx="7264400" cy="24732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0"/>
                </a:lnSpc>
              </a:pP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Our </a:t>
              </a:r>
              <a:r>
                <a:rPr lang="en-US" sz="2300" dirty="0" err="1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multigauging</a:t>
              </a: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systems deliver </a:t>
              </a:r>
              <a:r>
                <a:rPr lang="en-US" sz="2300" b="1" dirty="0">
                  <a:solidFill>
                    <a:srgbClr val="F7F7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unmatched accuracy</a:t>
              </a: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and efficiency, enhancing your manufacturing process with innovative solutions tailored for OEM and automotive industries.</a:t>
              </a:r>
              <a:endParaRPr lang="en-US" sz="2300" dirty="0">
                <a:solidFill>
                  <a:srgbClr val="F7F7F7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sp>
        <p:nvSpPr>
          <p:cNvPr id="6" name="AutoShape 6"/>
          <p:cNvSpPr/>
          <p:nvPr/>
        </p:nvSpPr>
        <p:spPr>
          <a:xfrm>
            <a:off x="1" y="676275"/>
            <a:ext cx="1217295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" y="9629775"/>
            <a:ext cx="1217295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7858126" y="0"/>
            <a:ext cx="10429876" cy="10287000"/>
            <a:chOff x="0" y="0"/>
            <a:chExt cx="1615861" cy="15937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1" cstate="print"/>
              <a:stretch>
                <a:fillRect l="-193" r="-193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922"/>
            <a:ext cx="6886576" cy="493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9600" spc="-193" dirty="0">
                <a:solidFill>
                  <a:srgbClr val="F7F7F7"/>
                </a:solidFill>
                <a:latin typeface="Noto Serif Display ExtraCondensed Light" panose="02020406080505020204"/>
                <a:ea typeface="Noto Serif Display ExtraCondensed Light" panose="02020406080505020204"/>
                <a:cs typeface="Noto Serif Display ExtraCondensed Light" panose="02020406080505020204"/>
                <a:sym typeface="Noto Serif Display ExtraCondensed Light" panose="02020406080505020204"/>
              </a:rPr>
              <a:t>Air Gauging: Precision Through Compressed Air</a:t>
            </a:r>
            <a:endParaRPr lang="en-US" sz="9600" spc="-193" dirty="0">
              <a:solidFill>
                <a:srgbClr val="F7F7F7"/>
              </a:solidFill>
              <a:latin typeface="Noto Serif Display ExtraCondensed Light" panose="02020406080505020204"/>
              <a:ea typeface="Noto Serif Display ExtraCondensed Light" panose="02020406080505020204"/>
              <a:cs typeface="Noto Serif Display ExtraCondensed Light" panose="02020406080505020204"/>
              <a:sym typeface="Noto Serif Display ExtraCondensed Light" panose="02020406080505020204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296401" y="1562947"/>
            <a:ext cx="4010026" cy="2168447"/>
            <a:chOff x="0" y="0"/>
            <a:chExt cx="621258" cy="3359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1258" cy="335949"/>
            </a:xfrm>
            <a:custGeom>
              <a:avLst/>
              <a:gdLst/>
              <a:ahLst/>
              <a:cxnLst/>
              <a:rect l="l" t="t" r="r" b="b"/>
              <a:pathLst>
                <a:path w="621258" h="335949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1" cstate="print"/>
              <a:stretch>
                <a:fillRect l="-420" r="-4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296401" y="4049742"/>
            <a:ext cx="4010026" cy="2191815"/>
            <a:chOff x="0" y="0"/>
            <a:chExt cx="621258" cy="3395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258" cy="339569"/>
            </a:xfrm>
            <a:custGeom>
              <a:avLst/>
              <a:gdLst/>
              <a:ahLst/>
              <a:cxnLst/>
              <a:rect l="l" t="t" r="r" b="b"/>
              <a:pathLst>
                <a:path w="621258" h="339569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2" cstate="print"/>
              <a:stretch>
                <a:fillRect l="-376" r="-3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96401" y="6559904"/>
            <a:ext cx="4010026" cy="2164997"/>
            <a:chOff x="0" y="0"/>
            <a:chExt cx="621258" cy="3354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1258" cy="335415"/>
            </a:xfrm>
            <a:custGeom>
              <a:avLst/>
              <a:gdLst/>
              <a:ahLst/>
              <a:cxnLst/>
              <a:rect l="l" t="t" r="r" b="b"/>
              <a:pathLst>
                <a:path w="621258" h="335415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3" cstate="print"/>
              <a:stretch>
                <a:fillRect l="-339" r="-33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611227" y="1562100"/>
            <a:ext cx="4010026" cy="1635012"/>
            <a:chOff x="0" y="0"/>
            <a:chExt cx="5346700" cy="218001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94363"/>
              <a:ext cx="5346700" cy="985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0"/>
                </a:lnSpc>
              </a:pP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Air gauging ensures </a:t>
              </a:r>
              <a:r>
                <a:rPr lang="en-US" sz="2300" b="1" dirty="0">
                  <a:solidFill>
                    <a:srgbClr val="F7F7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high precision</a:t>
              </a: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in measurements.</a:t>
              </a:r>
              <a:endParaRPr lang="en-US" sz="2300" dirty="0">
                <a:solidFill>
                  <a:srgbClr val="F7F7F7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346700" cy="58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Accurate Measurement</a:t>
              </a:r>
              <a:endParaRPr lang="en-US" sz="2900" b="1" dirty="0">
                <a:solidFill>
                  <a:srgbClr val="F7F7F7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7" y="4049742"/>
            <a:ext cx="4010026" cy="1634035"/>
            <a:chOff x="0" y="0"/>
            <a:chExt cx="5346700" cy="217871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193058"/>
              <a:ext cx="5346700" cy="9856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0"/>
                </a:lnSpc>
              </a:pP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Leveraging </a:t>
              </a:r>
              <a:r>
                <a:rPr lang="en-US" sz="2300" b="1" dirty="0">
                  <a:solidFill>
                    <a:srgbClr val="F7F7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advanced air technology</a:t>
              </a: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reliable results.</a:t>
              </a:r>
              <a:endParaRPr lang="en-US" sz="2300" dirty="0">
                <a:solidFill>
                  <a:srgbClr val="F7F7F7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346700" cy="5846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Innovative Technology</a:t>
              </a:r>
              <a:endParaRPr lang="en-US" sz="2900" b="1" dirty="0">
                <a:solidFill>
                  <a:srgbClr val="F7F7F7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11227" y="6559904"/>
            <a:ext cx="4010026" cy="2006488"/>
            <a:chOff x="0" y="0"/>
            <a:chExt cx="5346700" cy="2675315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193799"/>
              <a:ext cx="5346700" cy="1481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0"/>
                </a:lnSpc>
              </a:pP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Suitable for </a:t>
              </a:r>
              <a:r>
                <a:rPr lang="en-US" sz="2300" b="1" dirty="0">
                  <a:solidFill>
                    <a:srgbClr val="F7F7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multiple industries</a:t>
              </a: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enhancing production efficiency.</a:t>
              </a:r>
              <a:endParaRPr lang="en-US" sz="2300" dirty="0">
                <a:solidFill>
                  <a:srgbClr val="F7F7F7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5346700" cy="5846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Versatile Applications</a:t>
              </a:r>
              <a:endParaRPr lang="en-US" sz="2900" b="1" dirty="0">
                <a:solidFill>
                  <a:srgbClr val="F7F7F7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</p:grpSp>
      <p:sp>
        <p:nvSpPr>
          <p:cNvPr id="18" name="AutoShape 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05821"/>
            <a:ext cx="6886576" cy="2857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25"/>
              </a:lnSpc>
            </a:pPr>
            <a:r>
              <a:rPr lang="en-US" sz="7500" spc="-148" dirty="0">
                <a:solidFill>
                  <a:srgbClr val="F7F7F7"/>
                </a:solidFill>
                <a:latin typeface="Noto Serif Display ExtraCondensed Light" panose="02020406080505020204"/>
                <a:ea typeface="Noto Serif Display ExtraCondensed Light" panose="02020406080505020204"/>
                <a:cs typeface="Noto Serif Display ExtraCondensed Light" panose="02020406080505020204"/>
                <a:sym typeface="Noto Serif Display ExtraCondensed Light" panose="02020406080505020204"/>
              </a:rPr>
              <a:t>Precision-engineered Solutions for Every Need</a:t>
            </a:r>
            <a:endParaRPr lang="en-US" sz="7500" spc="-148" dirty="0">
              <a:solidFill>
                <a:srgbClr val="F7F7F7"/>
              </a:solidFill>
              <a:latin typeface="Noto Serif Display ExtraCondensed Light" panose="02020406080505020204"/>
              <a:ea typeface="Noto Serif Display ExtraCondensed Light" panose="02020406080505020204"/>
              <a:cs typeface="Noto Serif Display ExtraCondensed Light" panose="02020406080505020204"/>
              <a:sym typeface="Noto Serif Display ExtraCondensed Light" panose="02020406080505020204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296401" y="1562947"/>
            <a:ext cx="4010026" cy="2168447"/>
            <a:chOff x="0" y="0"/>
            <a:chExt cx="621258" cy="3359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1258" cy="335949"/>
            </a:xfrm>
            <a:custGeom>
              <a:avLst/>
              <a:gdLst/>
              <a:ahLst/>
              <a:cxnLst/>
              <a:rect l="l" t="t" r="r" b="b"/>
              <a:pathLst>
                <a:path w="621258" h="335949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1" cstate="print"/>
              <a:stretch>
                <a:fillRect l="-420" r="-4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296401" y="4049742"/>
            <a:ext cx="4010026" cy="2191815"/>
            <a:chOff x="0" y="0"/>
            <a:chExt cx="621258" cy="3395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258" cy="339569"/>
            </a:xfrm>
            <a:custGeom>
              <a:avLst/>
              <a:gdLst/>
              <a:ahLst/>
              <a:cxnLst/>
              <a:rect l="l" t="t" r="r" b="b"/>
              <a:pathLst>
                <a:path w="621258" h="339569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2" cstate="print"/>
              <a:stretch>
                <a:fillRect l="-376" r="-3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96401" y="6559904"/>
            <a:ext cx="4010026" cy="2164997"/>
            <a:chOff x="0" y="0"/>
            <a:chExt cx="621258" cy="3354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1258" cy="335415"/>
            </a:xfrm>
            <a:custGeom>
              <a:avLst/>
              <a:gdLst/>
              <a:ahLst/>
              <a:cxnLst/>
              <a:rect l="l" t="t" r="r" b="b"/>
              <a:pathLst>
                <a:path w="621258" h="335415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3" cstate="print"/>
              <a:stretch>
                <a:fillRect l="-339" r="-33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611227" y="1562100"/>
            <a:ext cx="4010026" cy="1635013"/>
            <a:chOff x="0" y="0"/>
            <a:chExt cx="5346700" cy="218001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94364"/>
              <a:ext cx="5346700" cy="98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0"/>
                </a:lnSpc>
              </a:pP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Tailored fixtures for unique manufacturing requirements.</a:t>
              </a:r>
              <a:endParaRPr lang="en-US" sz="2300" dirty="0">
                <a:solidFill>
                  <a:srgbClr val="F7F7F7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346700" cy="58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Customization</a:t>
              </a:r>
              <a:endParaRPr lang="en-US" sz="2900" b="1" dirty="0">
                <a:solidFill>
                  <a:srgbClr val="F7F7F7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7" y="4049742"/>
            <a:ext cx="4010026" cy="1634035"/>
            <a:chOff x="0" y="0"/>
            <a:chExt cx="5346700" cy="217871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193058"/>
              <a:ext cx="5346700" cy="9856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0"/>
                </a:lnSpc>
              </a:pP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Flexible designs that adapt to different applications.</a:t>
              </a:r>
              <a:endParaRPr lang="en-US" sz="2300" dirty="0">
                <a:solidFill>
                  <a:srgbClr val="F7F7F7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346700" cy="5846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Versatility</a:t>
              </a:r>
              <a:endParaRPr lang="en-US" sz="2900" b="1" dirty="0">
                <a:solidFill>
                  <a:srgbClr val="F7F7F7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11227" y="6559904"/>
            <a:ext cx="4010026" cy="2006488"/>
            <a:chOff x="0" y="0"/>
            <a:chExt cx="5346700" cy="267531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193800"/>
              <a:ext cx="5346700" cy="14815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0"/>
                </a:lnSpc>
              </a:pP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Engineered to withstand rigorous manufacturing environments.</a:t>
              </a:r>
              <a:endParaRPr lang="en-US" sz="2300" dirty="0">
                <a:solidFill>
                  <a:srgbClr val="F7F7F7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5346700" cy="58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Durability</a:t>
              </a:r>
              <a:endParaRPr lang="en-US" sz="2900" b="1" dirty="0">
                <a:solidFill>
                  <a:srgbClr val="F7F7F7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</p:grpSp>
      <p:sp>
        <p:nvSpPr>
          <p:cNvPr id="18" name="AutoShape 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038850"/>
            <a:ext cx="6886576" cy="2750281"/>
            <a:chOff x="0" y="0"/>
            <a:chExt cx="9182100" cy="3667041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9182100" cy="58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Enhanced Efficiency</a:t>
              </a:r>
              <a:endParaRPr lang="en-US" sz="2900" b="1" dirty="0">
                <a:solidFill>
                  <a:srgbClr val="F7F7F7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93800"/>
              <a:ext cx="9182100" cy="24732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0"/>
                </a:lnSpc>
              </a:pP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Our automation solutions significantly improve production </a:t>
              </a:r>
              <a:r>
                <a:rPr lang="en-US" sz="2300" b="1" dirty="0">
                  <a:solidFill>
                    <a:srgbClr val="F7F7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efficiency</a:t>
              </a: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by minimizing downtime and maximizing throughput, ensuring your manufacturing process is streamlined and cost-effective for optimal performance.</a:t>
              </a:r>
              <a:endParaRPr lang="en-US" sz="2300" dirty="0">
                <a:solidFill>
                  <a:srgbClr val="F7F7F7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038850"/>
            <a:ext cx="6886576" cy="2750281"/>
            <a:chOff x="0" y="0"/>
            <a:chExt cx="9182100" cy="3667041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9182100" cy="58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Intelligent Integration</a:t>
              </a:r>
              <a:endParaRPr lang="en-US" sz="2900" b="1" dirty="0">
                <a:solidFill>
                  <a:srgbClr val="F7F7F7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93800"/>
              <a:ext cx="9182100" cy="24732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0"/>
                </a:lnSpc>
              </a:pP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focus on integrating advanced technologies that enhance precision and adaptability, allowing for seamless communication between systems and reducing the risk of errors throughout the production process.</a:t>
              </a:r>
              <a:endParaRPr lang="en-US" sz="2300" dirty="0">
                <a:solidFill>
                  <a:srgbClr val="F7F7F7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1697832"/>
            <a:ext cx="16954500" cy="2093486"/>
            <a:chOff x="0" y="180976"/>
            <a:chExt cx="22606000" cy="2791315"/>
          </a:xfrm>
        </p:grpSpPr>
        <p:sp>
          <p:nvSpPr>
            <p:cNvPr id="9" name="TextBox 9"/>
            <p:cNvSpPr txBox="1"/>
            <p:nvPr/>
          </p:nvSpPr>
          <p:spPr>
            <a:xfrm>
              <a:off x="0" y="180976"/>
              <a:ext cx="22606000" cy="1653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9600" spc="-193" dirty="0">
                  <a:solidFill>
                    <a:srgbClr val="F7F7F7"/>
                  </a:solidFill>
                  <a:latin typeface="Noto Serif Display ExtraCondensed Light" panose="02020406080505020204"/>
                  <a:ea typeface="Noto Serif Display ExtraCondensed Light" panose="02020406080505020204"/>
                  <a:cs typeface="Noto Serif Display ExtraCondensed Light" panose="02020406080505020204"/>
                  <a:sym typeface="Noto Serif Display ExtraCondensed Light" panose="02020406080505020204"/>
                </a:rPr>
                <a:t>Innovation in Automation</a:t>
              </a:r>
              <a:endParaRPr lang="en-US" sz="9600" spc="-193" dirty="0">
                <a:solidFill>
                  <a:srgbClr val="F7F7F7"/>
                </a:solidFill>
                <a:latin typeface="Noto Serif Display ExtraCondensed Light" panose="02020406080505020204"/>
                <a:ea typeface="Noto Serif Display ExtraCondensed Light" panose="02020406080505020204"/>
                <a:cs typeface="Noto Serif Display ExtraCondensed Light" panose="02020406080505020204"/>
                <a:sym typeface="Noto Serif Display ExtraCondensed Light" panose="02020406080505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387600"/>
              <a:ext cx="22606000" cy="58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The next level for your manufacturing</a:t>
              </a:r>
              <a:endParaRPr lang="en-US" sz="2900" b="1" dirty="0">
                <a:solidFill>
                  <a:srgbClr val="F7F7F7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7" y="2457450"/>
            <a:ext cx="9763126" cy="1633747"/>
            <a:chOff x="0" y="0"/>
            <a:chExt cx="13017500" cy="217833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3017500" cy="58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Collaboration</a:t>
              </a:r>
              <a:endParaRPr lang="en-US" sz="2900" b="1" dirty="0">
                <a:solidFill>
                  <a:srgbClr val="F7F7F7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92675"/>
              <a:ext cx="13017500" cy="98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0"/>
                </a:lnSpc>
              </a:pP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Our collaborative approach ensures tailored solutions that meet customer needs, enhancing efficiency and productivity in manufacturing processes.</a:t>
              </a:r>
              <a:endParaRPr lang="en-US" sz="2300" dirty="0">
                <a:solidFill>
                  <a:srgbClr val="F7F7F7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58127" y="5143079"/>
            <a:ext cx="9763126" cy="1634170"/>
            <a:chOff x="0" y="0"/>
            <a:chExt cx="13017500" cy="2178892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13017500" cy="5846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900" b="1" dirty="0">
                  <a:solidFill>
                    <a:srgbClr val="F7F7F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Trust</a:t>
              </a:r>
              <a:endParaRPr lang="en-US" sz="2900" b="1" dirty="0">
                <a:solidFill>
                  <a:srgbClr val="F7F7F7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93238"/>
              <a:ext cx="13017500" cy="9856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0"/>
                </a:lnSpc>
              </a:pP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prioritize trust and transparency in every relationship, fostering long-term partnerships that drive mutual success and growth.</a:t>
              </a:r>
              <a:endParaRPr lang="en-US" sz="2300" dirty="0">
                <a:solidFill>
                  <a:srgbClr val="F7F7F7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66750" y="1743921"/>
            <a:ext cx="5448300" cy="370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9600" spc="-193" dirty="0">
                <a:solidFill>
                  <a:srgbClr val="F7F7F7"/>
                </a:solidFill>
                <a:latin typeface="Noto Serif Display ExtraCondensed Light" panose="02020406080505020204"/>
                <a:ea typeface="Noto Serif Display ExtraCondensed Light" panose="02020406080505020204"/>
                <a:cs typeface="Noto Serif Display ExtraCondensed Light" panose="02020406080505020204"/>
                <a:sym typeface="Noto Serif Display ExtraCondensed Light" panose="02020406080505020204"/>
              </a:rPr>
              <a:t>Building Strong Partnerships</a:t>
            </a:r>
            <a:endParaRPr lang="en-US" sz="9600" spc="-193" dirty="0">
              <a:solidFill>
                <a:srgbClr val="F7F7F7"/>
              </a:solidFill>
              <a:latin typeface="Noto Serif Display ExtraCondensed Light" panose="02020406080505020204"/>
              <a:ea typeface="Noto Serif Display ExtraCondensed Light" panose="02020406080505020204"/>
              <a:cs typeface="Noto Serif Display ExtraCondensed Light" panose="02020406080505020204"/>
              <a:sym typeface="Noto Serif Display ExtraCondensed Light" panose="02020406080505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 descr="IMG_3281.JPG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10134600" y="2509837"/>
            <a:ext cx="6172200" cy="3471863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Rectangle 14"/>
          <p:cNvSpPr/>
          <p:nvPr/>
        </p:nvSpPr>
        <p:spPr>
          <a:xfrm>
            <a:off x="130424" y="2750724"/>
            <a:ext cx="8784976" cy="3611976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Can be supplied for through bore / blind    bore applications.</a:t>
            </a:r>
            <a:endParaRPr lang="en-IN" sz="2800" dirty="0" smtClean="0"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Adjustable depth collars can be provided for checking a specific depth.</a:t>
            </a:r>
            <a:endParaRPr lang="en-IN" sz="2800" dirty="0" smtClean="0"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Range: 2 mm to 200 mm.</a:t>
            </a:r>
            <a:endParaRPr lang="en-IN" sz="2800" dirty="0" smtClean="0"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Hard chrome plated.</a:t>
            </a:r>
            <a:endParaRPr lang="en-IN" sz="2800" dirty="0" smtClean="0"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Though / blind /step bore.</a:t>
            </a:r>
            <a:endParaRPr lang="en-IN" sz="2800" dirty="0" smtClean="0"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Two setting rings required.</a:t>
            </a:r>
            <a:endParaRPr lang="en-IN" sz="1400" dirty="0"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" y="1943100"/>
            <a:ext cx="8305800" cy="595766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r>
              <a:rPr lang="en-US" sz="2800" b="1" i="1" dirty="0" smtClean="0"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AIR PLUG GAUUGE TO CHECK ID BORE</a:t>
            </a:r>
            <a:endParaRPr lang="en-US" sz="2800" b="1" i="1" dirty="0" smtClean="0"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8288000" cy="1796094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endParaRPr lang="en-US" sz="2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en-US" sz="50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Milestone Engineering Services</a:t>
            </a:r>
            <a:endParaRPr lang="en-US" sz="5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lang="en-US" sz="36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Precision • Innovation • Quality</a:t>
            </a:r>
            <a:endParaRPr lang="en-US" sz="3600" b="1" dirty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11" descr="IMG_3278.JPG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10325040" y="6515100"/>
            <a:ext cx="5981760" cy="3364740"/>
          </a:xfrm>
          <a:prstGeom prst="roundRect">
            <a:avLst>
              <a:gd name="adj" fmla="val 4167"/>
            </a:avLst>
          </a:prstGeom>
          <a:noFill/>
          <a:ln w="76200" cap="sq">
            <a:solidFill>
              <a:srgbClr val="292929"/>
            </a:solidFill>
            <a:miter lim="800000"/>
            <a:headEnd/>
            <a:tailEnd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" name="Rectangle 13"/>
          <p:cNvSpPr/>
          <p:nvPr/>
        </p:nvSpPr>
        <p:spPr>
          <a:xfrm>
            <a:off x="228600" y="6528934"/>
            <a:ext cx="8001056" cy="595766"/>
          </a:xfrm>
          <a:prstGeom prst="rect">
            <a:avLst/>
          </a:prstGeom>
          <a:noFill/>
        </p:spPr>
        <p:txBody>
          <a:bodyPr wrap="square" lIns="163284" tIns="81642" rIns="163284" bIns="81642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89" dirty="0" smtClean="0">
                <a:ln w="11430"/>
                <a:solidFill>
                  <a:schemeClr val="bg1"/>
                </a:solidFill>
                <a:latin typeface="HK Grotesk" charset="0"/>
              </a:rPr>
              <a:t>AIR CALLIPER GAUGE TO CHECK OD </a:t>
            </a:r>
            <a:endParaRPr lang="en-US" sz="4400" b="1" spc="89" dirty="0">
              <a:ln w="11430"/>
              <a:solidFill>
                <a:schemeClr val="bg1"/>
              </a:solidFill>
              <a:latin typeface="HK Grotesk" charset="0"/>
            </a:endParaRPr>
          </a:p>
        </p:txBody>
      </p:sp>
      <p:sp>
        <p:nvSpPr>
          <p:cNvPr id="9" name="Rectangle 14"/>
          <p:cNvSpPr/>
          <p:nvPr/>
        </p:nvSpPr>
        <p:spPr>
          <a:xfrm>
            <a:off x="304800" y="7193898"/>
            <a:ext cx="8398768" cy="275020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Range: 10mm to 180 mm 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Middle</a:t>
            </a:r>
            <a:endParaRPr lang="en-IN" sz="28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Two setting masters required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.</a:t>
            </a:r>
            <a:endParaRPr lang="en-IN" sz="28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Offered with Snap Gauge with jet fixed in Carbide 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tip</a:t>
            </a:r>
            <a:endParaRPr lang="en-IN" sz="28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Please specify the unit for which Air snap gauge is required.</a:t>
            </a:r>
            <a:endParaRPr lang="en-IN" sz="1400" dirty="0">
              <a:solidFill>
                <a:schemeClr val="bg1"/>
              </a:solidFill>
              <a:latin typeface="HK Grotesk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/>
          <p:nvPr/>
        </p:nvSpPr>
        <p:spPr>
          <a:xfrm>
            <a:off x="9432032" y="2628900"/>
            <a:ext cx="8398768" cy="5120081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Two Jet Air Ring Gauge to check outside diameter, Taper &amp; </a:t>
            </a:r>
            <a:r>
              <a:rPr lang="en-IN" sz="3200" dirty="0" err="1" smtClean="0">
                <a:solidFill>
                  <a:schemeClr val="bg1"/>
                </a:solidFill>
                <a:latin typeface="HK Grotesk" charset="0"/>
              </a:rPr>
              <a:t>Ovality</a:t>
            </a: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.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endParaRPr lang="en-IN" sz="16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Three jet Air Ring Gauge for detecting Lobbing effect @ 120 Degrees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16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Can be supplied with Tungsten Carbide wear rings on request.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16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Air Ring gauge - above dia. 150 mm available on request.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endParaRPr lang="en-IN" sz="1600" dirty="0" smtClean="0">
              <a:solidFill>
                <a:schemeClr val="bg1"/>
              </a:solidFill>
              <a:latin typeface="HK Grotesk" charset="0"/>
            </a:endParaRPr>
          </a:p>
        </p:txBody>
      </p:sp>
      <p:pic>
        <p:nvPicPr>
          <p:cNvPr id="3" name="Picture 11" descr="Air Ring Gauge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14316" y="2514601"/>
            <a:ext cx="8572560" cy="5265611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Rectangle 13"/>
          <p:cNvSpPr/>
          <p:nvPr/>
        </p:nvSpPr>
        <p:spPr>
          <a:xfrm>
            <a:off x="836480" y="7909918"/>
            <a:ext cx="8001056" cy="718876"/>
          </a:xfrm>
          <a:prstGeom prst="rect">
            <a:avLst/>
          </a:prstGeom>
          <a:noFill/>
        </p:spPr>
        <p:txBody>
          <a:bodyPr wrap="square" lIns="163284" tIns="81642" rIns="163284" bIns="81642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600" b="1" i="1" spc="89" dirty="0" smtClean="0">
                <a:ln w="11430"/>
                <a:solidFill>
                  <a:schemeClr val="bg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HK Grotesk" charset="0"/>
              </a:rPr>
              <a:t>AIR RING GAUGE TO CHECK OD </a:t>
            </a:r>
            <a:endParaRPr lang="en-US" sz="5000" b="1" i="1" spc="89" dirty="0">
              <a:ln w="11430"/>
              <a:solidFill>
                <a:schemeClr val="bg1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HK Grotesk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00" cy="1796094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endParaRPr lang="en-US" sz="2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HK Grotesk" charset="0"/>
              <a:cs typeface="Arial" panose="020B0604020202020204" pitchFamily="34" charset="0"/>
            </a:endParaR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en-US" sz="50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HK Grotesk" charset="0"/>
                <a:cs typeface="Arial" panose="020B0604020202020204" pitchFamily="34" charset="0"/>
              </a:rPr>
              <a:t>Milestone Engineering Services</a:t>
            </a:r>
            <a:endParaRPr lang="en-US" sz="5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HK Grotesk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lang="en-US" sz="36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HK Grotesk" charset="0"/>
                <a:cs typeface="Arial" panose="020B0604020202020204" pitchFamily="34" charset="0"/>
              </a:rPr>
              <a:t>Precision • Innovation • Quality</a:t>
            </a:r>
            <a:endParaRPr lang="en-US" sz="3600" b="1" dirty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HK Grotesk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Slide Number Placeholder 1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80FB94D-BCA2-4631-9ECB-DE44194FFDF7}" type="slidenum">
              <a:rPr lang="en-IN" smtClean="0">
                <a:solidFill>
                  <a:schemeClr val="bg1"/>
                </a:solidFill>
              </a:rPr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48646" name="Rectangle 2"/>
          <p:cNvSpPr>
            <a:spLocks noChangeArrowheads="1"/>
          </p:cNvSpPr>
          <p:nvPr/>
        </p:nvSpPr>
        <p:spPr bwMode="auto">
          <a:xfrm>
            <a:off x="0" y="-220938"/>
            <a:ext cx="329822" cy="4418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163284" tIns="81642" rIns="163284" bIns="81642" numCol="1" anchor="ctr" anchorCtr="0" compatLnSpc="1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48648" name="Rectangle 21"/>
          <p:cNvSpPr/>
          <p:nvPr/>
        </p:nvSpPr>
        <p:spPr>
          <a:xfrm>
            <a:off x="571440" y="9215466"/>
            <a:ext cx="17145120" cy="718876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600" b="1" spc="89" dirty="0" smtClean="0">
                <a:ln w="11430">
                  <a:noFill/>
                </a:ln>
                <a:solidFill>
                  <a:schemeClr val="bg1"/>
                </a:solidFill>
                <a:latin typeface="HK Grotesk" charset="0"/>
              </a:rPr>
              <a:t>Electronic </a:t>
            </a:r>
            <a:r>
              <a:rPr lang="en-US" sz="3600" b="1" spc="89" dirty="0" err="1" smtClean="0">
                <a:ln w="11430">
                  <a:noFill/>
                </a:ln>
                <a:solidFill>
                  <a:schemeClr val="bg1"/>
                </a:solidFill>
                <a:latin typeface="HK Grotesk" charset="0"/>
              </a:rPr>
              <a:t>Calliper</a:t>
            </a:r>
            <a:r>
              <a:rPr lang="en-US" sz="3600" b="1" spc="89" dirty="0" smtClean="0">
                <a:ln w="11430">
                  <a:noFill/>
                </a:ln>
                <a:solidFill>
                  <a:schemeClr val="bg1"/>
                </a:solidFill>
                <a:latin typeface="HK Grotesk" charset="0"/>
              </a:rPr>
              <a:t> Gauge for OD  2 Point / 3 Point </a:t>
            </a:r>
            <a:endParaRPr lang="en-US" sz="5000" b="1" spc="89" dirty="0">
              <a:ln w="11430">
                <a:noFill/>
              </a:ln>
              <a:solidFill>
                <a:schemeClr val="bg1"/>
              </a:solidFill>
              <a:latin typeface="HK Grotesk" charset="0"/>
            </a:endParaRPr>
          </a:p>
        </p:txBody>
      </p:sp>
      <p:pic>
        <p:nvPicPr>
          <p:cNvPr id="2097199" name="Picture 2" descr="F:\PG &amp; AT\Machindra Photo\24082011457.jpg"/>
          <p:cNvPicPr>
            <a:picLocks noChangeAspect="1"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266672" y="2678889"/>
            <a:ext cx="9144064" cy="578647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97200" name="Picture 2"/>
          <p:cNvPicPr>
            <a:picLocks noChangeAspect="1" noChangeArrowheads="1"/>
          </p:cNvPicPr>
          <p:nvPr/>
        </p:nvPicPr>
        <p:blipFill>
          <a:blip r:embed="rId2" cstate="print"/>
          <a:srcRect l="4813" t="3186" r="5348" b="4150"/>
          <a:stretch>
            <a:fillRect/>
          </a:stretch>
        </p:blipFill>
        <p:spPr bwMode="auto">
          <a:xfrm>
            <a:off x="10210800" y="1828800"/>
            <a:ext cx="6400800" cy="66294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 10"/>
          <p:cNvSpPr/>
          <p:nvPr/>
        </p:nvSpPr>
        <p:spPr>
          <a:xfrm>
            <a:off x="0" y="0"/>
            <a:ext cx="18288000" cy="1796094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endParaRPr lang="en-US" sz="2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en-US" sz="50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Milestone Engineering Services</a:t>
            </a:r>
            <a:endParaRPr lang="en-US" sz="5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lang="en-US" sz="36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Precision • Innovation • Quality</a:t>
            </a:r>
            <a:endParaRPr lang="en-US" sz="3600" b="1" dirty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1"/>
          <p:cNvSpPr/>
          <p:nvPr/>
        </p:nvSpPr>
        <p:spPr>
          <a:xfrm>
            <a:off x="609600" y="9458235"/>
            <a:ext cx="17145120" cy="718876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IN" sz="3600" b="1" i="1" dirty="0" smtClean="0"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Milestone Air Gauge Display Unit</a:t>
            </a:r>
            <a:r>
              <a:rPr lang="en-IN" sz="3600" dirty="0" smtClean="0"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 </a:t>
            </a:r>
            <a:endParaRPr lang="en-US" sz="5000" b="1" spc="89" dirty="0">
              <a:ln w="11430"/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</p:txBody>
      </p:sp>
      <p:sp>
        <p:nvSpPr>
          <p:cNvPr id="5" name="TextBox 19"/>
          <p:cNvSpPr txBox="1"/>
          <p:nvPr/>
        </p:nvSpPr>
        <p:spPr>
          <a:xfrm>
            <a:off x="7286612" y="2427893"/>
            <a:ext cx="10572824" cy="5581746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 High pressure system - High speed of response and self cleaning of gauging area ensures accurate reading of size, taper and </a:t>
            </a:r>
            <a:r>
              <a:rPr lang="en-IN" sz="3200" dirty="0" err="1" smtClean="0">
                <a:solidFill>
                  <a:schemeClr val="bg1"/>
                </a:solidFill>
                <a:latin typeface="HK Grotesk" charset="0"/>
              </a:rPr>
              <a:t>ovality</a:t>
            </a: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 at a time.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Non-contact Gauging - Long life due to minimal frictional wear.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Two Setting Masters - Ensures correct magnification of reading at all times.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System Pressure Check Gauge - provides a constant check on the system pressure </a:t>
            </a:r>
            <a:r>
              <a:rPr lang="en-IN" sz="3200" dirty="0" err="1" smtClean="0">
                <a:solidFill>
                  <a:schemeClr val="bg1"/>
                </a:solidFill>
                <a:latin typeface="HK Grotesk" charset="0"/>
              </a:rPr>
              <a:t>i.e</a:t>
            </a: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 3 bars (45 psi), regulated by a high precision regulator built in to the unit.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Minimum line pressure required 4.5 bars (67 psi)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</p:txBody>
      </p:sp>
      <p:pic>
        <p:nvPicPr>
          <p:cNvPr id="6" name="Picture 11" descr="IMG-20160203-WA0013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57192" y="2464575"/>
            <a:ext cx="5464980" cy="6643734"/>
          </a:xfrm>
          <a:prstGeom prst="roundRect">
            <a:avLst>
              <a:gd name="adj" fmla="val 4167"/>
            </a:avLst>
          </a:prstGeom>
          <a:noFill/>
          <a:ln w="76200" cap="sq">
            <a:solidFill>
              <a:srgbClr val="292929"/>
            </a:solidFill>
            <a:miter lim="800000"/>
            <a:headEnd/>
            <a:tailEnd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" name="Rectangle 7"/>
          <p:cNvSpPr/>
          <p:nvPr/>
        </p:nvSpPr>
        <p:spPr>
          <a:xfrm>
            <a:off x="0" y="0"/>
            <a:ext cx="18288000" cy="1796094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endParaRPr lang="en-US" sz="2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en-US" sz="50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Milestone Engineering Services</a:t>
            </a:r>
            <a:endParaRPr lang="en-US" sz="5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lang="en-US" sz="36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Precision • Innovation • Quality</a:t>
            </a:r>
            <a:endParaRPr lang="en-US" sz="3600" b="1" dirty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 r="15135"/>
          <a:stretch>
            <a:fillRect/>
          </a:stretch>
        </p:blipFill>
        <p:spPr bwMode="auto">
          <a:xfrm>
            <a:off x="457201" y="6651107"/>
            <a:ext cx="7924798" cy="3635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1" y="3086100"/>
            <a:ext cx="7924798" cy="35433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04800" y="1962836"/>
            <a:ext cx="8077200" cy="1057431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r>
              <a:rPr lang="en-US" sz="2900" dirty="0" smtClean="0"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AIR ELECTRONICS TRI-COLOUR DIGITAL DISPLAY UNIT(B.D.)</a:t>
            </a:r>
            <a:endParaRPr lang="en-US" sz="2000" dirty="0"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601200" y="2971800"/>
            <a:ext cx="8382000" cy="36576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01203" y="6637880"/>
            <a:ext cx="8381998" cy="3649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12"/>
          <p:cNvSpPr/>
          <p:nvPr/>
        </p:nvSpPr>
        <p:spPr>
          <a:xfrm>
            <a:off x="9525000" y="1943100"/>
            <a:ext cx="8458200" cy="611155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r>
              <a:rPr lang="en-US" sz="2900" dirty="0" smtClean="0"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TRICOLOURDIGITALDISPLAYUNIT</a:t>
            </a:r>
            <a:endParaRPr lang="en-US" sz="2900" dirty="0" smtClean="0"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8288000" cy="1796094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endParaRPr lang="en-US" sz="2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HK Grotesk" charset="0"/>
              <a:cs typeface="Arial" panose="020B0604020202020204" pitchFamily="34" charset="0"/>
            </a:endParaR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en-US" sz="50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HK Grotesk" charset="0"/>
                <a:cs typeface="Arial" panose="020B0604020202020204" pitchFamily="34" charset="0"/>
              </a:rPr>
              <a:t>Milestone Engineering Services</a:t>
            </a:r>
            <a:endParaRPr lang="en-US" sz="5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HK Grotesk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lang="en-US" sz="36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HK Grotesk" charset="0"/>
                <a:cs typeface="Arial" panose="020B0604020202020204" pitchFamily="34" charset="0"/>
              </a:rPr>
              <a:t>Precision • Innovation • Quality</a:t>
            </a:r>
            <a:endParaRPr lang="en-US" sz="3600" b="1" dirty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HK Grotesk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4800" y="6562397"/>
            <a:ext cx="7772400" cy="3724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58" name="Rectangle 4"/>
          <p:cNvSpPr>
            <a:spLocks noChangeArrowheads="1"/>
          </p:cNvSpPr>
          <p:nvPr/>
        </p:nvSpPr>
        <p:spPr bwMode="auto">
          <a:xfrm>
            <a:off x="304800" y="1868355"/>
            <a:ext cx="7772400" cy="934320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163284" tIns="81642" rIns="163284" bIns="81642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5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CHANNEL TWO DISPLAY TRI COLOUR DIGITAL DISPLAY UNIT</a:t>
            </a:r>
            <a:endParaRPr lang="en-US" sz="25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9721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53600" y="2924505"/>
            <a:ext cx="8229600" cy="3590595"/>
          </a:xfrm>
          <a:prstGeom prst="rect">
            <a:avLst/>
          </a:prstGeom>
          <a:noFill/>
        </p:spPr>
      </p:pic>
      <p:sp>
        <p:nvSpPr>
          <p:cNvPr id="1048659" name="Rectangle 9"/>
          <p:cNvSpPr/>
          <p:nvPr/>
        </p:nvSpPr>
        <p:spPr>
          <a:xfrm>
            <a:off x="9753600" y="1943100"/>
            <a:ext cx="8229600" cy="934320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r>
              <a:rPr lang="en-US" sz="25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CHANNEL THREE DISPLAY TRI COLOUR DIGITAL DISPLAY UNIT</a:t>
            </a:r>
            <a:endParaRPr lang="en-US" sz="25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97211" name="Picture 6"/>
          <p:cNvPicPr>
            <a:picLocks noChangeAspect="1" noChangeArrowheads="1"/>
          </p:cNvPicPr>
          <p:nvPr/>
        </p:nvPicPr>
        <p:blipFill>
          <a:blip r:embed="rId3" cstate="print"/>
          <a:srcRect r="4918"/>
          <a:stretch>
            <a:fillRect/>
          </a:stretch>
        </p:blipFill>
        <p:spPr bwMode="auto">
          <a:xfrm>
            <a:off x="9753600" y="6562395"/>
            <a:ext cx="8229600" cy="3724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0" y="0"/>
            <a:ext cx="18288000" cy="1796094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endParaRPr lang="en-US" sz="2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en-US" sz="50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Milestone Engineering Services</a:t>
            </a:r>
            <a:endParaRPr lang="en-US" sz="5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lang="en-US" sz="36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Precision • Innovation • Quality</a:t>
            </a:r>
            <a:endParaRPr lang="en-US" sz="3600" b="1" dirty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57" name="object 39"/>
          <p:cNvSpPr/>
          <p:nvPr/>
        </p:nvSpPr>
        <p:spPr>
          <a:xfrm>
            <a:off x="304800" y="2924505"/>
            <a:ext cx="7772400" cy="35905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3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4802" y="3063241"/>
            <a:ext cx="8092964" cy="2955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972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1" y="6019151"/>
            <a:ext cx="8092966" cy="426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61" name="Rectangle 4"/>
          <p:cNvSpPr>
            <a:spLocks noChangeArrowheads="1"/>
          </p:cNvSpPr>
          <p:nvPr/>
        </p:nvSpPr>
        <p:spPr bwMode="auto">
          <a:xfrm>
            <a:off x="304800" y="1852967"/>
            <a:ext cx="8382000" cy="1057431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163284" tIns="81642" rIns="163284" bIns="81642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900" dirty="0" smtClean="0"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AUTO SELECTION WITH AIR SEVER TRI COLOUR DIGITAL DISPLAYUNIT</a:t>
            </a:r>
            <a:endParaRPr lang="en-US" sz="2900" dirty="0" smtClean="0"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</p:txBody>
      </p:sp>
      <p:pic>
        <p:nvPicPr>
          <p:cNvPr id="2097215" name="Picture 2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601200" y="2971800"/>
            <a:ext cx="8534400" cy="3161649"/>
          </a:xfrm>
          <a:prstGeom prst="rect">
            <a:avLst/>
          </a:prstGeom>
          <a:noFill/>
        </p:spPr>
      </p:pic>
      <p:pic>
        <p:nvPicPr>
          <p:cNvPr id="2097216" name="Picture 2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01201" y="6133449"/>
            <a:ext cx="8561990" cy="4153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62" name="Rectangle 26"/>
          <p:cNvSpPr/>
          <p:nvPr/>
        </p:nvSpPr>
        <p:spPr>
          <a:xfrm>
            <a:off x="9753600" y="1989266"/>
            <a:ext cx="7772400" cy="1057431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900" dirty="0" smtClean="0"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FOURCHANNELFOURDISPLAY TRICOLOURDIGITALDISPLAYUNIT</a:t>
            </a:r>
            <a:endParaRPr lang="en-US" sz="2900" dirty="0" smtClean="0"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8288000" cy="1796094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endParaRPr lang="en-US" sz="2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en-US" sz="50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Milestone Engineering Services</a:t>
            </a:r>
            <a:endParaRPr lang="en-US" sz="5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lang="en-US" sz="36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Precision • Innovation • Quality</a:t>
            </a:r>
            <a:endParaRPr lang="en-US" sz="3600" b="1" dirty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Rectangle 2"/>
          <p:cNvSpPr>
            <a:spLocks noChangeArrowheads="1"/>
          </p:cNvSpPr>
          <p:nvPr/>
        </p:nvSpPr>
        <p:spPr bwMode="auto">
          <a:xfrm>
            <a:off x="0" y="-220938"/>
            <a:ext cx="329822" cy="4418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163284" tIns="81642" rIns="163284" bIns="81642" numCol="1" anchor="ctr" anchorCtr="0" compatLnSpc="1">
            <a:spAutoFit/>
          </a:bodyPr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048665" name="Rectangle 21"/>
          <p:cNvSpPr/>
          <p:nvPr/>
        </p:nvSpPr>
        <p:spPr>
          <a:xfrm>
            <a:off x="571440" y="9215466"/>
            <a:ext cx="17145120" cy="718876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IN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/>
              </a:rPr>
              <a:t>Milestone Memory Module Unit</a:t>
            </a:r>
            <a:r>
              <a:rPr lang="en-IN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/>
              </a:rPr>
              <a:t> </a:t>
            </a:r>
            <a:endParaRPr lang="en-US" sz="5000" spc="89" dirty="0">
              <a:ln w="1143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8666" name="Slide Number Placeholder 1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80FB94D-BCA2-4631-9ECB-DE44194FFDF7}" type="slidenum">
              <a:rPr lang="en-IN" smtClean="0">
                <a:solidFill>
                  <a:schemeClr val="bg1"/>
                </a:solidFill>
              </a:rPr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48667" name="TextBox 19"/>
          <p:cNvSpPr txBox="1"/>
          <p:nvPr/>
        </p:nvSpPr>
        <p:spPr>
          <a:xfrm>
            <a:off x="7429488" y="2684816"/>
            <a:ext cx="10572824" cy="576641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  RS 232 Connectivity with Electronic DRO Type Unit 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  USB Connectivity with PC 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 10,000 Reading Storage Capacity 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 Memory Full LED indication 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  TIME &amp; Date Stamp with each of recorded Reading 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  Saved Reading will be Opened in Excel File when connected to PC. 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  Data Can be Saved in PC &amp; can be Used with any of the available SPC Software ( FOR e.g. MINITAB ) 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HK Grotesk" charset="0"/>
              </a:rPr>
              <a:t> Data Modification possible with Excel File . </a:t>
            </a:r>
            <a:endParaRPr lang="en-IN" sz="32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4400" dirty="0">
              <a:solidFill>
                <a:schemeClr val="bg1"/>
              </a:solidFill>
              <a:latin typeface="HK Grotesk" charset="0"/>
            </a:endParaRPr>
          </a:p>
        </p:txBody>
      </p:sp>
      <p:pic>
        <p:nvPicPr>
          <p:cNvPr id="2097218" name="Picture 12" descr="Memory Module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57193" y="2786046"/>
            <a:ext cx="5868534" cy="4914897"/>
          </a:xfrm>
          <a:prstGeom prst="roundRect">
            <a:avLst>
              <a:gd name="adj" fmla="val 4167"/>
            </a:avLst>
          </a:prstGeom>
          <a:noFill/>
          <a:ln w="76200" cap="sq">
            <a:solidFill>
              <a:srgbClr val="292929"/>
            </a:solidFill>
            <a:miter lim="800000"/>
            <a:headEnd/>
            <a:tailEnd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9" name="Rectangle 8"/>
          <p:cNvSpPr/>
          <p:nvPr/>
        </p:nvSpPr>
        <p:spPr>
          <a:xfrm>
            <a:off x="0" y="0"/>
            <a:ext cx="18288000" cy="1796094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endParaRPr lang="en-US" sz="2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en-US" sz="50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Milestone Engineering Services</a:t>
            </a:r>
            <a:endParaRPr lang="en-US" sz="5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lang="en-US" sz="36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Precision • Innovation • Quality</a:t>
            </a:r>
            <a:endParaRPr lang="en-US" sz="3600" b="1" dirty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Rectangle 2"/>
          <p:cNvSpPr>
            <a:spLocks noChangeArrowheads="1"/>
          </p:cNvSpPr>
          <p:nvPr/>
        </p:nvSpPr>
        <p:spPr bwMode="auto">
          <a:xfrm>
            <a:off x="0" y="-220938"/>
            <a:ext cx="329822" cy="4418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163284" tIns="81642" rIns="163284" bIns="81642" numCol="1" anchor="ctr" anchorCtr="0" compatLnSpc="1">
            <a:spAutoFit/>
          </a:bodyPr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048670" name="Rectangle 21"/>
          <p:cNvSpPr/>
          <p:nvPr/>
        </p:nvSpPr>
        <p:spPr>
          <a:xfrm>
            <a:off x="457200" y="2057400"/>
            <a:ext cx="17145120" cy="718876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IN" sz="3600" b="1" dirty="0" smtClean="0">
                <a:solidFill>
                  <a:schemeClr val="bg1"/>
                </a:solidFill>
                <a:latin typeface="Segoe UI" panose="020B0502040204020203"/>
              </a:rPr>
              <a:t>Engine BLOCK LINER BORE </a:t>
            </a:r>
            <a:r>
              <a:rPr lang="en-IN" sz="3600" b="1" dirty="0" err="1" smtClean="0">
                <a:solidFill>
                  <a:schemeClr val="bg1"/>
                </a:solidFill>
                <a:latin typeface="Segoe UI" panose="020B0502040204020203"/>
              </a:rPr>
              <a:t>Multigauging</a:t>
            </a:r>
            <a:r>
              <a:rPr lang="en-IN" sz="3600" b="1" dirty="0" smtClean="0">
                <a:solidFill>
                  <a:schemeClr val="bg1"/>
                </a:solidFill>
                <a:latin typeface="Segoe UI" panose="020B0502040204020203"/>
              </a:rPr>
              <a:t> Station </a:t>
            </a:r>
            <a:endParaRPr lang="en-US" b="1" spc="89" dirty="0">
              <a:ln w="11430"/>
              <a:solidFill>
                <a:schemeClr val="bg1"/>
              </a:solidFill>
            </a:endParaRPr>
          </a:p>
        </p:txBody>
      </p:sp>
      <p:sp>
        <p:nvSpPr>
          <p:cNvPr id="1048671" name="Slide Number Placeholder 1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r>
              <a:rPr lang="en-IN" sz="3600" dirty="0" smtClean="0">
                <a:solidFill>
                  <a:schemeClr val="bg1"/>
                </a:solidFill>
                <a:latin typeface="Segoe UI" panose="020B0502040204020203"/>
              </a:rPr>
              <a:t> </a:t>
            </a:r>
            <a:fld id="{680FB94D-BCA2-4631-9ECB-DE44194FFDF7}" type="slidenum">
              <a:rPr lang="en-IN" smtClean="0">
                <a:solidFill>
                  <a:schemeClr val="bg1"/>
                </a:solidFill>
              </a:rPr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48672" name="TextBox 19"/>
          <p:cNvSpPr txBox="1"/>
          <p:nvPr/>
        </p:nvSpPr>
        <p:spPr>
          <a:xfrm>
            <a:off x="9429752" y="2773024"/>
            <a:ext cx="8858248" cy="576641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Tri-</a:t>
            </a:r>
            <a:r>
              <a:rPr lang="en-IN" sz="2800" i="1" dirty="0" err="1" smtClean="0">
                <a:solidFill>
                  <a:schemeClr val="bg1"/>
                </a:solidFill>
                <a:latin typeface="HK Grotesk" charset="0"/>
              </a:rPr>
              <a:t>Color</a:t>
            </a: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Six digit display </a:t>
            </a:r>
            <a:endParaRPr lang="en-IN" sz="2800" i="1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 6  LINER ID  DIA Measurement  in X Axis at 3 Levels &amp; Y Axis At 3 Levels </a:t>
            </a:r>
            <a:endParaRPr lang="en-IN" sz="2800" i="1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Absolute / Comparative Measurement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 </a:t>
            </a:r>
            <a:endParaRPr lang="en-IN" sz="28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Auto calibration Facility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 </a:t>
            </a:r>
            <a:endParaRPr lang="en-IN" sz="28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Metric/Inch Measurement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 </a:t>
            </a:r>
            <a:endParaRPr lang="en-IN" sz="28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Static/Dynamic measurement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 </a:t>
            </a:r>
            <a:endParaRPr lang="en-IN" sz="28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RS 232 Output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 </a:t>
            </a:r>
            <a:endParaRPr lang="en-IN" sz="28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Relay Output 24 V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  Optional </a:t>
            </a:r>
            <a:endParaRPr lang="en-IN" sz="1400" i="1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Tricolour LED for component tolerance status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 </a:t>
            </a:r>
            <a:endParaRPr lang="en-IN" sz="28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Suspended type 12 JET Special Air Plug Gauge </a:t>
            </a:r>
            <a:endParaRPr lang="en-IN" sz="2800" i="1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Special 3 Level Master Settings Rings  for Setting of 3 </a:t>
            </a:r>
            <a:r>
              <a:rPr lang="en-IN" sz="2800" i="1" dirty="0" err="1" smtClean="0">
                <a:solidFill>
                  <a:schemeClr val="bg1"/>
                </a:solidFill>
                <a:latin typeface="HK Grotesk" charset="0"/>
              </a:rPr>
              <a:t>Dia</a:t>
            </a: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 X &amp; Y Axis  </a:t>
            </a:r>
            <a:r>
              <a:rPr lang="en-IN" sz="2800" i="1" dirty="0" err="1" smtClean="0">
                <a:solidFill>
                  <a:schemeClr val="bg1"/>
                </a:solidFill>
                <a:latin typeface="HK Grotesk" charset="0"/>
              </a:rPr>
              <a:t>hh</a:t>
            </a:r>
            <a:endParaRPr lang="en-IN" sz="1400" dirty="0" smtClean="0">
              <a:solidFill>
                <a:schemeClr val="bg1"/>
              </a:solidFill>
              <a:latin typeface="HK Grotesk" charset="0"/>
            </a:endParaRPr>
          </a:p>
        </p:txBody>
      </p:sp>
      <p:pic>
        <p:nvPicPr>
          <p:cNvPr id="2097220" name="Picture 12" descr="IMG_20180120_160158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10196" y="3071778"/>
            <a:ext cx="8790928" cy="4929222"/>
          </a:xfrm>
          <a:prstGeom prst="rect">
            <a:avLst/>
          </a:prstGeom>
          <a:noFill/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0" y="0"/>
            <a:ext cx="18288000" cy="1796094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endParaRPr lang="en-US" sz="2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en-US" sz="50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Milestone Engineering Services</a:t>
            </a:r>
            <a:endParaRPr lang="en-US" sz="5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lang="en-US" sz="36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Precision • Innovation • Quality</a:t>
            </a:r>
            <a:endParaRPr lang="en-US" sz="3600" b="1" dirty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Rectangle 2"/>
          <p:cNvSpPr>
            <a:spLocks noChangeArrowheads="1"/>
          </p:cNvSpPr>
          <p:nvPr/>
        </p:nvSpPr>
        <p:spPr bwMode="auto">
          <a:xfrm>
            <a:off x="0" y="-220938"/>
            <a:ext cx="329822" cy="4418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163284" tIns="81642" rIns="163284" bIns="81642" numCol="1" anchor="ctr" anchorCtr="0" compatLnSpc="1">
            <a:spAutoFit/>
          </a:bodyPr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048612" name="Rectangle 21"/>
          <p:cNvSpPr/>
          <p:nvPr/>
        </p:nvSpPr>
        <p:spPr>
          <a:xfrm>
            <a:off x="571440" y="9504402"/>
            <a:ext cx="17145120" cy="718876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IN" sz="36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/>
              </a:rPr>
              <a:t>Camshaft </a:t>
            </a:r>
            <a:r>
              <a:rPr lang="en-IN" sz="3600" b="1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/>
              </a:rPr>
              <a:t>Dia</a:t>
            </a:r>
            <a:r>
              <a:rPr lang="en-IN" sz="36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/>
              </a:rPr>
              <a:t> </a:t>
            </a:r>
            <a:r>
              <a:rPr lang="en-IN" sz="3600" b="1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/>
              </a:rPr>
              <a:t>Multigauging</a:t>
            </a:r>
            <a:r>
              <a:rPr lang="en-IN" sz="36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/>
              </a:rPr>
              <a:t> Station </a:t>
            </a:r>
            <a:endParaRPr lang="en-US" b="1" spc="89" dirty="0">
              <a:ln w="1143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8613" name="Slide Number Placeholder 1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r>
              <a:rPr lang="en-IN" sz="3600" dirty="0" smtClean="0">
                <a:solidFill>
                  <a:schemeClr val="bg1"/>
                </a:solidFill>
                <a:latin typeface="Segoe UI" panose="020B0502040204020203"/>
              </a:rPr>
              <a:t> </a:t>
            </a:r>
            <a:fld id="{680FB94D-BCA2-4631-9ECB-DE44194FFDF7}" type="slidenum">
              <a:rPr lang="en-IN" smtClean="0">
                <a:solidFill>
                  <a:schemeClr val="bg1"/>
                </a:solidFill>
              </a:rPr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48614" name="TextBox 19"/>
          <p:cNvSpPr txBox="1"/>
          <p:nvPr/>
        </p:nvSpPr>
        <p:spPr>
          <a:xfrm>
            <a:off x="8534400" y="2606219"/>
            <a:ext cx="9429816" cy="4473750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Tri-</a:t>
            </a:r>
            <a:r>
              <a:rPr lang="en-IN" sz="2800" i="1" dirty="0" err="1" smtClean="0">
                <a:solidFill>
                  <a:schemeClr val="bg1"/>
                </a:solidFill>
                <a:latin typeface="HK Grotesk" charset="0"/>
              </a:rPr>
              <a:t>Color</a:t>
            </a: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Six digit display </a:t>
            </a:r>
            <a:endParaRPr lang="en-IN" sz="2800" i="1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 6  OD  DIA Measurement </a:t>
            </a:r>
            <a:endParaRPr lang="en-IN" sz="2800" i="1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Absolute / Comparative Measurement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 </a:t>
            </a:r>
            <a:endParaRPr lang="en-IN" sz="28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Auto calibration Facility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 </a:t>
            </a:r>
            <a:endParaRPr lang="en-IN" sz="28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Metric/Inch Measurement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 </a:t>
            </a:r>
            <a:endParaRPr lang="en-IN" sz="28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Static/Dynamic measurement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 </a:t>
            </a:r>
            <a:endParaRPr lang="en-IN" sz="28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RS 232 Output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 </a:t>
            </a:r>
            <a:endParaRPr lang="en-IN" sz="28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Relay Output 24 V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  Optional </a:t>
            </a:r>
            <a:endParaRPr lang="en-IN" sz="4000" i="1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i="1" dirty="0" smtClean="0">
                <a:solidFill>
                  <a:schemeClr val="bg1"/>
                </a:solidFill>
                <a:latin typeface="HK Grotesk" charset="0"/>
              </a:rPr>
              <a:t> Tricolour LED for component tolerance status</a:t>
            </a: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 </a:t>
            </a:r>
            <a:endParaRPr lang="en-IN" sz="2800" dirty="0" smtClean="0">
              <a:solidFill>
                <a:schemeClr val="bg1"/>
              </a:solidFill>
              <a:latin typeface="HK Grotesk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>
                <a:solidFill>
                  <a:schemeClr val="bg1"/>
                </a:solidFill>
                <a:latin typeface="HK Grotesk" charset="0"/>
              </a:rPr>
              <a:t>  Ideal for Camshaft  DIA  Measurement</a:t>
            </a:r>
            <a:endParaRPr lang="en-IN" sz="4000" dirty="0">
              <a:solidFill>
                <a:schemeClr val="bg1"/>
              </a:solidFill>
              <a:latin typeface="HK Grotesk" charset="0"/>
            </a:endParaRPr>
          </a:p>
        </p:txBody>
      </p:sp>
      <p:pic>
        <p:nvPicPr>
          <p:cNvPr id="2097186" name="Picture 13" descr="Camshaft Multigauging System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14317" y="2753512"/>
            <a:ext cx="6072194" cy="6072194"/>
          </a:xfrm>
          <a:prstGeom prst="rect">
            <a:avLst/>
          </a:prstGeom>
          <a:noFill/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97187" name="Picture 14" descr="Camshaft Multigauging System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839200" y="7429501"/>
            <a:ext cx="8991600" cy="1916762"/>
          </a:xfrm>
          <a:prstGeom prst="rect">
            <a:avLst/>
          </a:prstGeom>
          <a:noFill/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 10"/>
          <p:cNvSpPr/>
          <p:nvPr/>
        </p:nvSpPr>
        <p:spPr>
          <a:xfrm>
            <a:off x="0" y="0"/>
            <a:ext cx="18288000" cy="1796094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endParaRPr lang="en-US" sz="2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en-US" sz="50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Milestone Engineering Services</a:t>
            </a:r>
            <a:endParaRPr lang="en-US" sz="5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lang="en-US" sz="36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Precision • Innovation • Quality</a:t>
            </a:r>
            <a:endParaRPr lang="en-US" sz="3600" b="1" dirty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Rectangle 12"/>
          <p:cNvSpPr/>
          <p:nvPr/>
        </p:nvSpPr>
        <p:spPr>
          <a:xfrm>
            <a:off x="1295400" y="1833824"/>
            <a:ext cx="16854409" cy="718876"/>
          </a:xfrm>
          <a:prstGeom prst="rect">
            <a:avLst/>
          </a:prstGeom>
          <a:noFill/>
        </p:spPr>
        <p:txBody>
          <a:bodyPr wrap="none" lIns="163284" tIns="81642" rIns="163284" bIns="81642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Segoe UI" panose="020B0502040204020203" pitchFamily="18" charset="0"/>
              </a:rPr>
              <a:t>All type of </a:t>
            </a:r>
            <a:r>
              <a:rPr lang="en-US" sz="3600" b="1" dirty="0" smtClean="0">
                <a:solidFill>
                  <a:schemeClr val="bg1"/>
                </a:solidFill>
                <a:latin typeface="Segoe UI" panose="020B0502040204020203" pitchFamily="18" charset="0"/>
              </a:rPr>
              <a:t>Instruments, coating thickness, Slip gauge, magnetic stands etc…</a:t>
            </a:r>
            <a:endParaRPr lang="en-US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097181" name="Picture 3" descr="C:\Users\snyb\Downloads\download (1)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220200" y="2873921"/>
            <a:ext cx="3600000" cy="3429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97182" name="Picture 4" descr="C:\Users\snyb\Downloads\download (2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7064921"/>
            <a:ext cx="3581400" cy="28194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97183" name="Picture 5" descr="C:\Users\snyb\Downloads\slip-gauge-set-250x25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6988721"/>
            <a:ext cx="3657600" cy="28194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97184" name="Picture 6" descr="C:\Users\snyb\Downloads\measuring-pin-set-250x25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96400" y="6912521"/>
            <a:ext cx="3581400" cy="3031579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0" y="0"/>
            <a:ext cx="18288000" cy="1796094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endParaRPr lang="en-US" sz="2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en-US" sz="50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Milestone Engineering Services</a:t>
            </a:r>
            <a:endParaRPr lang="en-US" sz="5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lang="en-US" sz="36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Precision • Innovation • Quality</a:t>
            </a:r>
            <a:endParaRPr lang="en-US" sz="3600" b="1" dirty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8600" y="2797721"/>
            <a:ext cx="3600000" cy="3317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8200" y="2797721"/>
            <a:ext cx="360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639800" y="6796461"/>
            <a:ext cx="3962400" cy="3140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3639800" y="2950121"/>
            <a:ext cx="41148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7" name="Picture 2" descr="C:\Users\snyb\Downloads\position-gauges-500x50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27762" y="2905665"/>
            <a:ext cx="8016240" cy="7038435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97178" name="Picture 3" descr="C:\Users\snyb\Downloads\position-checking-gauge-500x5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0" y="2909379"/>
            <a:ext cx="7010400" cy="7010400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48606" name="Rectangle 11"/>
          <p:cNvSpPr/>
          <p:nvPr/>
        </p:nvSpPr>
        <p:spPr>
          <a:xfrm>
            <a:off x="4876800" y="1960602"/>
            <a:ext cx="9144000" cy="718876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latin typeface="Segoe UI" panose="020B0502040204020203" pitchFamily="18" charset="0"/>
              </a:rPr>
              <a:t>All type of special gauges &amp; Fixtures</a:t>
            </a:r>
            <a:endParaRPr lang="en-US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8288000" cy="1796094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endParaRPr lang="en-US" sz="2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en-US" sz="50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Milestone Engineering Services</a:t>
            </a:r>
            <a:endParaRPr lang="en-US" sz="5000" b="1" dirty="0" smtClean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rPr lang="en-US" sz="3600" b="1" dirty="0" smtClean="0">
                <a:ln w="1905"/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Precision • Innovation • Quality</a:t>
            </a:r>
            <a:endParaRPr lang="en-US" sz="3600" b="1" dirty="0">
              <a:ln w="1905"/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6" y="0"/>
            <a:ext cx="10429876" cy="10287000"/>
            <a:chOff x="0" y="0"/>
            <a:chExt cx="161586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1" cstate="print"/>
              <a:stretch>
                <a:fillRect l="-193" r="-19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028700"/>
            <a:ext cx="5448300" cy="2482738"/>
            <a:chOff x="0" y="-712328"/>
            <a:chExt cx="7264400" cy="3310316"/>
          </a:xfrm>
        </p:grpSpPr>
        <p:sp>
          <p:nvSpPr>
            <p:cNvPr id="5" name="TextBox 5"/>
            <p:cNvSpPr txBox="1"/>
            <p:nvPr/>
          </p:nvSpPr>
          <p:spPr>
            <a:xfrm>
              <a:off x="0" y="-712328"/>
              <a:ext cx="7264400" cy="1653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9600" spc="-193" dirty="0">
                  <a:solidFill>
                    <a:srgbClr val="F7F7F7"/>
                  </a:solidFill>
                  <a:latin typeface="Noto Serif Display ExtraCondensed Light" panose="02020406080505020204"/>
                  <a:ea typeface="Noto Serif Display ExtraCondensed Light" panose="02020406080505020204"/>
                  <a:cs typeface="Noto Serif Display ExtraCondensed Light" panose="02020406080505020204"/>
                  <a:sym typeface="Noto Serif Display ExtraCondensed Light" panose="02020406080505020204"/>
                </a:rPr>
                <a:t>Contact Us</a:t>
              </a:r>
              <a:endParaRPr lang="en-US" sz="9600" spc="-193" dirty="0">
                <a:solidFill>
                  <a:srgbClr val="F7F7F7"/>
                </a:solidFill>
                <a:latin typeface="Noto Serif Display ExtraCondensed Light" panose="02020406080505020204"/>
                <a:ea typeface="Noto Serif Display ExtraCondensed Light" panose="02020406080505020204"/>
                <a:cs typeface="Noto Serif Display ExtraCondensed Light" panose="02020406080505020204"/>
                <a:sym typeface="Noto Serif Display ExtraCondensed Light" panose="02020406080505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16471"/>
              <a:ext cx="7264400" cy="14815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80"/>
                </a:lnSpc>
              </a:pP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Connect with us to explore </a:t>
              </a:r>
              <a:r>
                <a:rPr lang="en-US" sz="2300" b="1" dirty="0">
                  <a:solidFill>
                    <a:srgbClr val="F7F7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custom solutions</a:t>
              </a:r>
              <a:r>
                <a:rPr lang="en-US" sz="2300" dirty="0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tailored for your manufacturing needs.</a:t>
              </a:r>
              <a:endParaRPr lang="en-US" sz="2300" dirty="0">
                <a:solidFill>
                  <a:srgbClr val="F7F7F7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>
            <a:off x="1" y="676275"/>
            <a:ext cx="7858126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" y="9629775"/>
            <a:ext cx="7858126" cy="0"/>
          </a:xfrm>
          <a:prstGeom prst="line">
            <a:avLst/>
          </a:prstGeom>
          <a:ln w="19050" cap="flat">
            <a:solidFill>
              <a:srgbClr val="F7F7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Content Placeholder 2"/>
          <p:cNvSpPr txBox="1"/>
          <p:nvPr/>
        </p:nvSpPr>
        <p:spPr>
          <a:xfrm>
            <a:off x="228600" y="3848100"/>
            <a:ext cx="7239000" cy="227007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163284" tIns="81642" rIns="163284" bIns="81642" rtlCol="0">
            <a:spAutoFit/>
          </a:bodyPr>
          <a:lstStyle>
            <a:lvl1pPr indent="0">
              <a:spcBef>
                <a:spcPct val="20000"/>
              </a:spcBef>
              <a:buFont typeface="Arial" panose="020B0604020202020204" pitchFamily="34" charset="0"/>
              <a:buNone/>
              <a:defRPr sz="2400" b="1" spc="50">
                <a:ln w="11430"/>
                <a:solidFill>
                  <a:srgbClr val="C00000"/>
                </a:solidFill>
                <a:latin typeface="Calibri(Body)"/>
              </a:defRPr>
            </a:lvl1pPr>
            <a:lvl2pPr marL="171450" lvl="1" indent="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rgbClr val="C00000"/>
                </a:solidFill>
                <a:latin typeface="Calibri(Body)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algn="ctr"/>
            <a:r>
              <a:rPr lang="en-US" b="0" spc="0" dirty="0">
                <a:ln w="12700">
                  <a:noFill/>
                  <a:prstDash val="solid"/>
                </a:ln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Registered </a:t>
            </a:r>
            <a:r>
              <a:rPr lang="en-US" b="0" spc="0" dirty="0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Details</a:t>
            </a:r>
            <a:endParaRPr lang="en-US" sz="2800" b="0" spc="0" dirty="0">
              <a:ln w="12700">
                <a:noFill/>
                <a:prstDash val="solid"/>
              </a:ln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  <a:p>
            <a:pPr algn="ctr"/>
            <a:r>
              <a:rPr lang="en-US" sz="2800" b="0" spc="0" dirty="0" smtClean="0">
                <a:ln w="12700">
                  <a:noFill/>
                  <a:prstDash val="solid"/>
                </a:ln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HK Grotesk" charset="0"/>
                <a:cs typeface="Arial" panose="020B0604020202020204" pitchFamily="34" charset="0"/>
              </a:rPr>
              <a:t>  </a:t>
            </a:r>
            <a:r>
              <a:rPr lang="en-US" b="0" dirty="0" smtClean="0">
                <a:ln w="1905">
                  <a:noFill/>
                </a:ln>
                <a:solidFill>
                  <a:schemeClr val="bg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HK Grotesk" charset="0"/>
                <a:cs typeface="Arial" panose="020B0604020202020204" pitchFamily="34" charset="0"/>
              </a:rPr>
              <a:t>Milestone Engineering Services</a:t>
            </a:r>
            <a:endParaRPr lang="en-US" b="0" dirty="0" smtClean="0">
              <a:ln w="1905">
                <a:noFill/>
              </a:ln>
              <a:solidFill>
                <a:schemeClr val="bg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HK Grotesk" charset="0"/>
              <a:cs typeface="Arial" panose="020B0604020202020204" pitchFamily="34" charset="0"/>
            </a:endParaRPr>
          </a:p>
          <a:p>
            <a:pPr lvl="1" algn="ctr"/>
            <a:r>
              <a:rPr lang="en-US" sz="1600" b="0" dirty="0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41, </a:t>
            </a:r>
            <a:r>
              <a:rPr lang="en-US" sz="1600" b="0" dirty="0" err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Bajanai</a:t>
            </a:r>
            <a:r>
              <a:rPr lang="en-US" sz="1600" b="0" dirty="0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 </a:t>
            </a:r>
            <a:r>
              <a:rPr lang="en-US" sz="1600" b="0" dirty="0" err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kovil</a:t>
            </a:r>
            <a:r>
              <a:rPr lang="en-US" sz="1600" b="0" dirty="0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  Street,</a:t>
            </a:r>
            <a:endParaRPr lang="en-US" sz="1600" b="0" dirty="0" smtClean="0">
              <a:ln w="12700">
                <a:noFill/>
                <a:prstDash val="solid"/>
              </a:ln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  <a:p>
            <a:pPr lvl="1" algn="ctr"/>
            <a:r>
              <a:rPr lang="en-US" sz="1600" b="0" dirty="0" err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Mamandur</a:t>
            </a:r>
            <a:r>
              <a:rPr lang="en-US" sz="1600" b="0" dirty="0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 </a:t>
            </a:r>
            <a:r>
              <a:rPr lang="en-US" sz="1600" b="0" dirty="0" err="1">
                <a:ln w="12700">
                  <a:noFill/>
                  <a:prstDash val="solid"/>
                </a:ln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village,Tiruttani</a:t>
            </a:r>
            <a:r>
              <a:rPr lang="en-US" sz="1600" b="0" dirty="0">
                <a:ln w="12700">
                  <a:noFill/>
                  <a:prstDash val="solid"/>
                </a:ln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,</a:t>
            </a:r>
            <a:endParaRPr lang="en-US" sz="1600" b="0" dirty="0">
              <a:ln w="12700">
                <a:noFill/>
                <a:prstDash val="solid"/>
              </a:ln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  <a:p>
            <a:pPr lvl="1" algn="ctr"/>
            <a:r>
              <a:rPr lang="en-US" sz="1600" b="0" dirty="0" err="1">
                <a:ln w="12700">
                  <a:noFill/>
                  <a:prstDash val="solid"/>
                </a:ln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Tiruvallur</a:t>
            </a:r>
            <a:r>
              <a:rPr lang="en-US" sz="1600" b="0" dirty="0">
                <a:ln w="12700">
                  <a:noFill/>
                  <a:prstDash val="solid"/>
                </a:ln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 District,</a:t>
            </a:r>
            <a:endParaRPr lang="en-US" sz="1600" b="0" dirty="0">
              <a:ln w="12700">
                <a:noFill/>
                <a:prstDash val="solid"/>
              </a:ln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  <a:p>
            <a:pPr lvl="1" algn="ctr"/>
            <a:r>
              <a:rPr lang="en-US" sz="1600" b="0" dirty="0">
                <a:ln w="12700">
                  <a:noFill/>
                  <a:prstDash val="solid"/>
                </a:ln>
                <a:solidFill>
                  <a:schemeClr val="bg1"/>
                </a:solidFill>
                <a:latin typeface="HK Grotesk" charset="0"/>
                <a:cs typeface="Arial" panose="020B0604020202020204" pitchFamily="34" charset="0"/>
              </a:rPr>
              <a:t>Tamil Nadu, PIN 631201.</a:t>
            </a:r>
            <a:endParaRPr lang="en-US" sz="1600" b="0" dirty="0">
              <a:ln w="12700">
                <a:noFill/>
                <a:prstDash val="solid"/>
              </a:ln>
              <a:solidFill>
                <a:schemeClr val="bg1"/>
              </a:solidFill>
              <a:latin typeface="HK Grotesk" charset="0"/>
              <a:cs typeface="Arial" panose="020B0604020202020204" pitchFamily="34" charset="0"/>
            </a:endParaRPr>
          </a:p>
        </p:txBody>
      </p:sp>
      <p:sp>
        <p:nvSpPr>
          <p:cNvPr id="14" name="Rectangle 3"/>
          <p:cNvSpPr/>
          <p:nvPr/>
        </p:nvSpPr>
        <p:spPr>
          <a:xfrm>
            <a:off x="152400" y="6303073"/>
            <a:ext cx="7315200" cy="188842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163284" tIns="81642" rIns="163284" bIns="81642">
            <a:spAutoFit/>
          </a:bodyPr>
          <a:lstStyle/>
          <a:p>
            <a:pPr algn="ctr"/>
            <a:r>
              <a:rPr lang="en-US" sz="2800" b="1" spc="89" dirty="0">
                <a:ln w="11430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E-MAIL : </a:t>
            </a:r>
            <a:r>
              <a:rPr lang="en-US" sz="2800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milestonegauges@gmail.com</a:t>
            </a:r>
            <a:r>
              <a:rPr lang="en-US" sz="2800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messalessarvices@gmail.com</a:t>
            </a:r>
            <a:endParaRPr lang="en-US" sz="1400" b="1" u="sng" spc="89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b="1" spc="89" dirty="0">
                <a:ln w="11430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 No : </a:t>
            </a:r>
            <a:r>
              <a:rPr lang="en-US" sz="2800" b="1" spc="89" dirty="0" smtClean="0">
                <a:ln w="11430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+919445730673, +918220397439</a:t>
            </a:r>
            <a:endParaRPr lang="en-US" sz="1400" b="1" spc="89" dirty="0">
              <a:ln w="11430">
                <a:noFill/>
              </a:ln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52400" y="8343900"/>
            <a:ext cx="7543800" cy="116515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163284" tIns="81642" rIns="163284" bIns="81642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600" b="1" spc="89" dirty="0" smtClean="0">
                <a:ln w="11430">
                  <a:noFill/>
                </a:ln>
                <a:solidFill>
                  <a:schemeClr val="bg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YOU. </a:t>
            </a:r>
            <a:endParaRPr lang="en-US" sz="3600" b="1" spc="89" dirty="0" smtClean="0">
              <a:ln w="11430">
                <a:noFill/>
              </a:ln>
              <a:solidFill>
                <a:schemeClr val="bg1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900" b="1" spc="89" dirty="0">
              <a:ln w="11430">
                <a:noFill/>
              </a:ln>
              <a:solidFill>
                <a:schemeClr val="bg1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8271</Words>
  <Application>WPS Presentation</Application>
  <PresentationFormat>Custom</PresentationFormat>
  <Paragraphs>298</Paragraphs>
  <Slides>26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5" baseType="lpstr">
      <vt:lpstr>Arial</vt:lpstr>
      <vt:lpstr>SimSun</vt:lpstr>
      <vt:lpstr>Wingdings</vt:lpstr>
      <vt:lpstr>Arial Black</vt:lpstr>
      <vt:lpstr>HK Grotesk</vt:lpstr>
      <vt:lpstr>Segoe Print</vt:lpstr>
      <vt:lpstr>HK Grotesk Semi-Bold</vt:lpstr>
      <vt:lpstr>HK Grotesk</vt:lpstr>
      <vt:lpstr>Noto Serif Display ExtraCondensed Light</vt:lpstr>
      <vt:lpstr>HK Grotesk Bold</vt:lpstr>
      <vt:lpstr>Microsoft YaHei</vt:lpstr>
      <vt:lpstr>Arial Unicode MS</vt:lpstr>
      <vt:lpstr>Calibri</vt:lpstr>
      <vt:lpstr>Segoe UI</vt:lpstr>
      <vt:lpstr>Segoe UI</vt:lpstr>
      <vt:lpstr>Bookman Old Style</vt:lpstr>
      <vt:lpstr>Calibri(Body)</vt:lpstr>
      <vt:lpstr>Times New Roman</vt:lpstr>
      <vt:lpstr>Office Theme</vt:lpstr>
      <vt:lpstr>PowerPoint 演示文稿</vt:lpstr>
      <vt:lpstr>PowerPoint 演示文稿</vt:lpstr>
      <vt:lpstr>Customer Benefits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Gauging Solutions</dc:title>
  <dc:creator>ADMIN</dc:creator>
  <dc:description>Presentation - Gauging Solutions</dc:description>
  <cp:lastModifiedBy>MAHIMA VARSHINI</cp:lastModifiedBy>
  <cp:revision>24</cp:revision>
  <dcterms:created xsi:type="dcterms:W3CDTF">2006-08-16T00:00:00Z</dcterms:created>
  <dcterms:modified xsi:type="dcterms:W3CDTF">2026-02-06T03:32:10Z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08FD551BF0044D1393106F646DE3B169_12</vt:lpwstr>
  </property>
  <property fmtid="{D5CDD505-2E9C-101B-9397-08002B2CF9AE}" pid="3" name="KSOProductBuildVer">
    <vt:lpwstr>1033-12.2.0.23155</vt:lpwstr>
  </property>
</Properties>
</file>